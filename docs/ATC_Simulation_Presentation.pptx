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BE27C51-FCEF-0C74-0B57-B195138305D5}">
          <p14:sldIdLst>
            <p14:sldId id="256"/>
            <p14:sldId id="257"/>
          </p14:sldIdLst>
        </p14:section>
        <p14:section name="Geometry" id="{D83FCFAD-7C63-973F-2FAD-27D5E5C73081}">
          <p14:sldIdLst>
            <p14:sldId id="258"/>
          </p14:sldIdLst>
        </p14:section>
        <p14:section name="Transformations" id="{D622D88A-7ADE-84E6-5379-4A28901817B5}">
          <p14:sldIdLst>
            <p14:sldId id="259"/>
          </p14:sldIdLst>
        </p14:section>
        <p14:section name="Illumination" id="{57EA65FF-CBED-7F8A-5895-BF007D57E8DD}">
          <p14:sldIdLst>
            <p14:sldId id="260"/>
          </p14:sldIdLst>
        </p14:section>
        <p14:section name="Shading" id="{3D1A1D7A-D1F8-F43E-FF9E-8C443640DF79}">
          <p14:sldIdLst>
            <p14:sldId id="261"/>
          </p14:sldIdLst>
        </p14:section>
        <p14:section name="Materials" id="{4539BBEC-FD01-E3AB-F84B-910748D4953A}">
          <p14:sldIdLst>
            <p14:sldId id="262"/>
          </p14:sldIdLst>
        </p14:section>
        <p14:section name="Simulation" id="{2987BD4D-39DF-A4F2-A7CE-2CF53535978D}">
          <p14:sldIdLst>
            <p14:sldId id="263"/>
          </p14:sldIdLst>
        </p14:section>
        <p14:section name="Demonstration" id="{36E8D975-B114-FBB5-7E21-BC3000B22BEA}">
          <p14:sldIdLst>
            <p14:sldId id="264"/>
          </p14:sldIdLst>
        </p14:section>
        <p14:section name="Closing" id="{1D1A3596-3CEA-45B8-12FD-6266FC1229E1}">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0" d="100"/>
          <a:sy n="130" d="100"/>
        </p:scale>
        <p:origin x="82"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369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my CSE 4102 project: a real-time airport simulation written in C++17 and OpenGL 3.3 core, with three objects - an airliner, a helicopter and a two-stage rocket. Everything you will see is generated in code: no model files, no textures, and no maths library.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follows the rendering pipeline: first the vertices, then the matrices that move them, then the light and the two shading models, and finally a live recording of the simulation.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model files are loaded. Six generator functions compute positions and normals. For the sphere the normal is simply the normalised position because it is centred on the origin. For a cylinder or cone the normal is the cross product of the two surface tangents, which leans upward by the slope of the wall. The whole scene is 1,900 triangles re-drawn with different matrices.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vertex passes through model, view and projection. The vehicles are hierarchical: the simulation gives a base matrix and each part multiplies its own local transform. Hinged parts rotate about a pivot. Normals use the inverse transpose, which matters because almost every box in this scene is a unit cube with a different scale on each axis.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directional light. The highlight is added as white light rather than multiplied by the material, so it also shows on a red helicopter or on dark asphalt. The sun is user controlled: as it swings round, the bright faces, the dark faces and the highlights all move with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project. Both lit modes use exactly the same lighting equation; only the place where it runs differs. They agree on the diffuse light and disagree on highlights that fall inside a triangle. The bottom right panel is the measured difference, amplified twelve times.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surface carries a colour and a gloss factor. The depth buffer is not linear: almost all its precision sits near the camera, which caused visible z-fighting when the rocket was more than a kilometre up. Pushing the near plane out and making the ground a deep slab fixed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vehicles are finite state machines. One autopilot flight takes 36 seconds from lift-off to touchdown and lands within a hundredth of a unit of the centreline. The airliner can also be flown by hand with a simple point-mass flight model, including a stall below twelve units per second.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recording shows, in order: the airport overview, the three shading models switching on the same frame, the sun being swung round, the rocket launch with both separations, the cockpit view, and the airliner being flown by hand. Click to play.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demonstrate any part live: the shading keys N, G and B, the sun keys, or flying the airliner by hand.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3864"/>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4663440" cy="118872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3" name="Text 0"/>
          <p:cNvSpPr>
            <a:spLocks noGrp="1"/>
          </p:cNvSpPr>
          <p:nvPr>
            <p:ph type="body" idx="101" hasCustomPrompt="1"/>
          </p:nvPr>
        </p:nvSpPr>
        <p:spPr>
          <a:xfrm>
            <a:off x="548640" y="2606040"/>
            <a:ext cx="4663440" cy="365760"/>
          </a:xfrm>
          <a:prstGeom prst="rect">
            <a:avLst/>
          </a:prstGeom>
          <a:noFill/>
          <a:ln/>
        </p:spPr>
        <p:txBody>
          <a:bodyPr wrap="square" rtlCol="0"/>
          <a:lstStyle>
            <a:lvl1pPr marL="0" indent="0" algn="l">
              <a:buNone/>
              <a:defRPr lang="en-US" sz="1500" dirty="0">
                <a:solidFill>
                  <a:schemeClr val="accent2"/>
                </a:solidFill>
              </a:defRPr>
            </a:lvl1pPr>
          </a:lstStyle>
          <a:p>
            <a:pPr marL="0" indent="0" algn="l">
              <a:buNone/>
            </a:pPr>
            <a:endParaRPr lang="en-US" sz="1500" dirty="0"/>
          </a:p>
        </p:txBody>
      </p:sp>
      <p:sp>
        <p:nvSpPr>
          <p:cNvPr id="4" name="Text 0"/>
          <p:cNvSpPr/>
          <p:nvPr/>
        </p:nvSpPr>
        <p:spPr>
          <a:xfrm>
            <a:off x="548640" y="4681728"/>
            <a:ext cx="1828800" cy="256032"/>
          </a:xfrm>
          <a:prstGeom prst="rect">
            <a:avLst/>
          </a:prstGeom>
          <a:noFill/>
          <a:ln/>
        </p:spPr>
        <p:txBody>
          <a:bodyPr wrap="square" lIns="0" tIns="0" rIns="0" bIns="0" rtlCol="0" anchor="ctr"/>
          <a:lstStyle/>
          <a:p>
            <a:pPr marL="0" indent="0">
              <a:buNone/>
            </a:pPr>
            <a:r>
              <a:rPr lang="en-US" sz="1000" dirty="0">
                <a:solidFill>
                  <a:schemeClr val="accent2"/>
                </a:solidFill>
              </a:rPr>
              <a:t>06-10-2026</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8229600" cy="237744"/>
          </a:xfrm>
          <a:prstGeom prst="rect">
            <a:avLst/>
          </a:prstGeom>
          <a:noFill/>
          <a:ln/>
        </p:spPr>
        <p:txBody>
          <a:bodyPr wrap="square" rtlCol="0"/>
          <a:lstStyle>
            <a:lvl1pPr marL="0" indent="0" algn="l">
              <a:buNone/>
              <a:defRPr lang="en-US" sz="1000" b="1" kern="0" spc="100" dirty="0">
                <a:solidFill>
                  <a:schemeClr val="accent1"/>
                </a:solidFill>
              </a:defRPr>
            </a:lvl1pPr>
          </a:lstStyle>
          <a:p>
            <a:pPr marL="0" indent="0" algn="l">
              <a:buNone/>
            </a:pPr>
            <a:endParaRPr lang="en-US" sz="1000" dirty="0"/>
          </a:p>
        </p:txBody>
      </p:sp>
      <p:sp>
        <p:nvSpPr>
          <p:cNvPr id="3" name="Shape 0"/>
          <p:cNvSpPr/>
          <p:nvPr/>
        </p:nvSpPr>
        <p:spPr>
          <a:xfrm>
            <a:off x="457200" y="475488"/>
            <a:ext cx="8229600" cy="0"/>
          </a:xfrm>
          <a:prstGeom prst="line">
            <a:avLst/>
          </a:prstGeom>
          <a:noFill/>
          <a:ln w="9525">
            <a:solidFill>
              <a:srgbClr val="D9D9D9"/>
            </a:solidFill>
            <a:prstDash val="solid"/>
          </a:ln>
        </p:spPr>
      </p:sp>
      <p:sp>
        <p:nvSpPr>
          <p:cNvPr id="4" name="Text 1"/>
          <p:cNvSpPr>
            <a:spLocks noGrp="1"/>
          </p:cNvSpPr>
          <p:nvPr>
            <p:ph type="title" idx="102" hasCustomPrompt="1"/>
          </p:nvPr>
        </p:nvSpPr>
        <p:spPr>
          <a:xfrm>
            <a:off x="457200" y="548640"/>
            <a:ext cx="8229600" cy="475488"/>
          </a:xfrm>
          <a:prstGeom prst="rect">
            <a:avLst/>
          </a:prstGeom>
          <a:noFill/>
          <a:ln/>
        </p:spPr>
        <p:txBody>
          <a:bodyPr wrap="square" rtlCol="0"/>
          <a:lstStyle>
            <a:lvl1pPr marL="0" indent="0" algn="l">
              <a:buNone/>
              <a:defRPr lang="en-US" sz="2400" b="1" dirty="0">
                <a:solidFill>
                  <a:schemeClr val="tx1"/>
                </a:solidFill>
              </a:defRPr>
            </a:lvl1pPr>
          </a:lstStyle>
          <a:p>
            <a:pPr marL="0" indent="0" algn="l">
              <a:buNone/>
            </a:pPr>
            <a:endParaRPr lang="en-US" sz="2400" dirty="0"/>
          </a:p>
        </p:txBody>
      </p:sp>
      <p:sp>
        <p:nvSpPr>
          <p:cNvPr id="5" name="Text 1"/>
          <p:cNvSpPr/>
          <p:nvPr/>
        </p:nvSpPr>
        <p:spPr>
          <a:xfrm>
            <a:off x="457200" y="4754880"/>
            <a:ext cx="2743200" cy="237744"/>
          </a:xfrm>
          <a:prstGeom prst="rect">
            <a:avLst/>
          </a:prstGeom>
          <a:noFill/>
          <a:ln/>
        </p:spPr>
        <p:txBody>
          <a:bodyPr wrap="square" lIns="0" tIns="0" rIns="0" bIns="0" rtlCol="0" anchor="ctr"/>
          <a:lstStyle/>
          <a:p>
            <a:pPr marL="0" indent="0">
              <a:buNone/>
            </a:pPr>
            <a:r>
              <a:rPr lang="en-US" sz="900" dirty="0">
                <a:solidFill>
                  <a:schemeClr val="accent5"/>
                </a:solidFill>
              </a:rPr>
              <a:t>06-10-2026</a:t>
            </a:r>
            <a:endParaRPr lang="en-US" sz="900" dirty="0"/>
          </a:p>
        </p:txBody>
      </p:sp>
      <p:sp>
        <p:nvSpPr>
          <p:cNvPr id="25" name="Slide Number Placeholder 0"/>
          <p:cNvSpPr>
            <a:spLocks noGrp="1"/>
          </p:cNvSpPr>
          <p:nvPr>
            <p:ph type="sldNum" sz="quarter" idx="4294967295"/>
          </p:nvPr>
        </p:nvSpPr>
        <p:spPr>
          <a:xfrm>
            <a:off x="8229600" y="4754880"/>
            <a:ext cx="457200" cy="237744"/>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7F7F7F"/>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37744"/>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7F7F7F"/>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868680"/>
            <a:ext cx="4663440" cy="274320"/>
          </a:xfrm>
          <a:prstGeom prst="rect">
            <a:avLst/>
          </a:prstGeom>
          <a:noFill/>
          <a:ln/>
        </p:spPr>
        <p:txBody>
          <a:bodyPr wrap="square" lIns="0" tIns="0" rIns="0" bIns="0" rtlCol="0" anchor="ctr"/>
          <a:lstStyle/>
          <a:p>
            <a:pPr marL="0" indent="0">
              <a:buNone/>
            </a:pPr>
            <a:r>
              <a:rPr lang="en-US" sz="1100" b="1" kern="0" spc="100" dirty="0">
                <a:solidFill>
                  <a:schemeClr val="accent2"/>
                </a:solidFill>
              </a:rPr>
              <a:t>CSE 4102  ·  COMPUTER GRAPHICS PROJECT</a:t>
            </a:r>
            <a:endParaRPr lang="en-US" sz="1100" dirty="0"/>
          </a:p>
        </p:txBody>
      </p:sp>
      <p:sp>
        <p:nvSpPr>
          <p:cNvPr id="3" name="Text 0"/>
          <p:cNvSpPr>
            <a:spLocks noGrp="1"/>
          </p:cNvSpPr>
          <p:nvPr>
            <p:ph type="title" idx="100" hasCustomPrompt="1"/>
          </p:nvPr>
        </p:nvSpPr>
        <p:spPr>
          <a:xfrm>
            <a:off x="548640" y="1371600"/>
            <a:ext cx="4663440" cy="1188720"/>
          </a:xfrm>
          <a:prstGeom prst="rect">
            <a:avLst/>
          </a:prstGeom>
          <a:noFill/>
          <a:ln/>
        </p:spPr>
        <p:txBody>
          <a:bodyPr wrap="square" lIns="0" tIns="0" rIns="0" bIns="0" rtlCol="0" anchor="t"/>
          <a:lstStyle/>
          <a:p>
            <a:pPr marL="0" indent="0" algn="l">
              <a:buNone/>
            </a:pPr>
            <a:r>
              <a:rPr lang="en-US" sz="3000" b="1" dirty="0">
                <a:solidFill>
                  <a:schemeClr val="bg1"/>
                </a:solidFill>
              </a:rPr>
              <a:t>Airport ATC Simulation</a:t>
            </a:r>
            <a:endParaRPr lang="en-US" sz="3000" dirty="0"/>
          </a:p>
          <a:p>
            <a:pPr marL="0" indent="0" algn="l">
              <a:buNone/>
            </a:pPr>
            <a:r>
              <a:rPr lang="en-US" sz="3000" b="1" dirty="0">
                <a:solidFill>
                  <a:schemeClr val="bg1"/>
                </a:solidFill>
              </a:rPr>
              <a:t>in OpenGL</a:t>
            </a:r>
            <a:endParaRPr lang="en-US" sz="3000" dirty="0"/>
          </a:p>
        </p:txBody>
      </p:sp>
      <p:sp>
        <p:nvSpPr>
          <p:cNvPr id="4" name="Text 0"/>
          <p:cNvSpPr>
            <a:spLocks noGrp="1"/>
          </p:cNvSpPr>
          <p:nvPr>
            <p:ph type="body" idx="101" hasCustomPrompt="1"/>
          </p:nvPr>
        </p:nvSpPr>
        <p:spPr>
          <a:xfrm>
            <a:off x="548640" y="2606040"/>
            <a:ext cx="4663440" cy="365760"/>
          </a:xfrm>
          <a:prstGeom prst="rect">
            <a:avLst/>
          </a:prstGeom>
          <a:noFill/>
          <a:ln/>
        </p:spPr>
        <p:txBody>
          <a:bodyPr wrap="square" lIns="0" tIns="0" rIns="0" bIns="0" rtlCol="0" anchor="t"/>
          <a:lstStyle/>
          <a:p>
            <a:pPr marL="0" indent="0" algn="l">
              <a:buNone/>
            </a:pPr>
            <a:r>
              <a:rPr lang="en-US" sz="1500" dirty="0">
                <a:solidFill>
                  <a:schemeClr val="accent2"/>
                </a:solidFill>
              </a:rPr>
              <a:t>Geometry · Transformation · Illumination · Shading</a:t>
            </a:r>
            <a:endParaRPr lang="en-US" sz="1500" dirty="0"/>
          </a:p>
        </p:txBody>
      </p:sp>
      <p:sp>
        <p:nvSpPr>
          <p:cNvPr id="5" name="Text 3"/>
          <p:cNvSpPr txBox="1"/>
          <p:nvPr/>
        </p:nvSpPr>
        <p:spPr>
          <a:xfrm>
            <a:off x="548640" y="3154680"/>
            <a:ext cx="4663440" cy="1097280"/>
          </a:xfrm>
          <a:prstGeom prst="rect">
            <a:avLst/>
          </a:prstGeom>
          <a:noFill/>
          <a:ln/>
        </p:spPr>
        <p:txBody>
          <a:bodyPr wrap="square" lIns="0" tIns="0" rIns="0" bIns="0" rtlCol="0" anchor="t"/>
          <a:lstStyle/>
          <a:p>
            <a:pPr marL="0" indent="0">
              <a:spcAft>
                <a:spcPts val="400"/>
              </a:spcAft>
              <a:buNone/>
            </a:pPr>
            <a:r>
              <a:rPr lang="en-US" sz="1400" dirty="0">
                <a:solidFill>
                  <a:schemeClr val="accent2"/>
                </a:solidFill>
              </a:rPr>
              <a:t>Student name:  </a:t>
            </a:r>
            <a:r>
              <a:rPr lang="en-US" sz="1400" b="1" dirty="0">
                <a:solidFill>
                  <a:schemeClr val="bg1"/>
                </a:solidFill>
              </a:rPr>
              <a:t>Md. Mosaddek Ali</a:t>
            </a:r>
            <a:endParaRPr lang="en-US" sz="1400" dirty="0"/>
          </a:p>
          <a:p>
            <a:pPr marL="0" indent="0">
              <a:spcAft>
                <a:spcPts val="400"/>
              </a:spcAft>
              <a:buNone/>
            </a:pPr>
            <a:r>
              <a:rPr lang="en-US" sz="1400" dirty="0">
                <a:solidFill>
                  <a:schemeClr val="accent2"/>
                </a:solidFill>
              </a:rPr>
              <a:t>Roll:  </a:t>
            </a:r>
            <a:r>
              <a:rPr lang="en-US" sz="1400" b="1" dirty="0">
                <a:solidFill>
                  <a:schemeClr val="bg1"/>
                </a:solidFill>
              </a:rPr>
              <a:t>2107027</a:t>
            </a:r>
            <a:endParaRPr lang="en-US" sz="1400" dirty="0"/>
          </a:p>
          <a:p>
            <a:pPr marL="0" indent="0">
              <a:spcAft>
                <a:spcPts val="400"/>
              </a:spcAft>
              <a:buNone/>
            </a:pPr>
            <a:r>
              <a:rPr lang="en-US" sz="1400" dirty="0">
                <a:solidFill>
                  <a:schemeClr val="accent2"/>
                </a:solidFill>
              </a:rPr>
              <a:t>Course No:  </a:t>
            </a:r>
            <a:r>
              <a:rPr lang="en-US" sz="1400" b="1" dirty="0">
                <a:solidFill>
                  <a:schemeClr val="bg1"/>
                </a:solidFill>
              </a:rPr>
              <a:t>CSE 4102</a:t>
            </a:r>
            <a:endParaRPr lang="en-US" sz="1400" dirty="0"/>
          </a:p>
        </p:txBody>
      </p:sp>
      <p:pic>
        <p:nvPicPr>
          <p:cNvPr id="6" name="Airport overview" descr="Airport overview"/>
          <p:cNvPicPr>
            <a:picLocks noChangeAspect="1"/>
          </p:cNvPicPr>
          <p:nvPr/>
        </p:nvPicPr>
        <p:blipFill>
          <a:blip r:embed="rId3"/>
          <a:stretch>
            <a:fillRect/>
          </a:stretch>
        </p:blipFill>
        <p:spPr>
          <a:xfrm>
            <a:off x="5486400" y="1371600"/>
            <a:ext cx="3200400" cy="1801368"/>
          </a:xfrm>
          <a:prstGeom prst="rect">
            <a:avLst/>
          </a:prstGeom>
        </p:spPr>
      </p:pic>
      <p:sp>
        <p:nvSpPr>
          <p:cNvPr id="7" name="Text 4"/>
          <p:cNvSpPr txBox="1"/>
          <p:nvPr/>
        </p:nvSpPr>
        <p:spPr>
          <a:xfrm>
            <a:off x="5486400" y="3255264"/>
            <a:ext cx="3200400" cy="548640"/>
          </a:xfrm>
          <a:prstGeom prst="rect">
            <a:avLst/>
          </a:prstGeom>
          <a:noFill/>
          <a:ln/>
        </p:spPr>
        <p:txBody>
          <a:bodyPr wrap="square" lIns="0" tIns="0" rIns="0" bIns="0" rtlCol="0" anchor="t"/>
          <a:lstStyle/>
          <a:p>
            <a:pPr marL="0" indent="0">
              <a:buNone/>
            </a:pPr>
            <a:r>
              <a:rPr lang="en-US" sz="1050" i="1" dirty="0">
                <a:solidFill>
                  <a:schemeClr val="accent2"/>
                </a:solidFill>
              </a:rPr>
              <a:t>Airplane, helicopter and a two-stage rocket in one lit, coloured airport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8229600" cy="237744"/>
          </a:xfrm>
          <a:prstGeom prst="rect">
            <a:avLst/>
          </a:prstGeom>
          <a:noFill/>
          <a:ln/>
        </p:spPr>
        <p:txBody>
          <a:bodyPr wrap="square" lIns="0" tIns="0" rIns="0" bIns="0" rtlCol="0" anchor="ctr"/>
          <a:lstStyle/>
          <a:p>
            <a:pPr marL="0" indent="0" algn="l">
              <a:buNone/>
            </a:pPr>
            <a:r>
              <a:rPr lang="en-US" sz="1000" b="1" kern="0" spc="100" dirty="0">
                <a:solidFill>
                  <a:schemeClr val="accent1"/>
                </a:solidFill>
              </a:rPr>
              <a:t>INTRODUCTION</a:t>
            </a:r>
            <a:endParaRPr lang="en-US" sz="1000" dirty="0"/>
          </a:p>
        </p:txBody>
      </p:sp>
      <p:sp>
        <p:nvSpPr>
          <p:cNvPr id="3" name="Text 1"/>
          <p:cNvSpPr>
            <a:spLocks noGrp="1"/>
          </p:cNvSpPr>
          <p:nvPr>
            <p:ph type="title" idx="102" hasCustomPrompt="1"/>
          </p:nvPr>
        </p:nvSpPr>
        <p:spPr>
          <a:xfrm>
            <a:off x="457200" y="548640"/>
            <a:ext cx="8229600" cy="475488"/>
          </a:xfrm>
          <a:prstGeom prst="rect">
            <a:avLst/>
          </a:prstGeom>
          <a:noFill/>
          <a:ln/>
        </p:spPr>
        <p:txBody>
          <a:bodyPr wrap="square" lIns="0" tIns="0" rIns="0" bIns="0" rtlCol="0" anchor="ctr"/>
          <a:lstStyle/>
          <a:p>
            <a:pPr marL="0" indent="0" algn="l">
              <a:buNone/>
            </a:pPr>
            <a:r>
              <a:rPr lang="en-US" sz="2400" b="1" dirty="0">
                <a:solidFill>
                  <a:schemeClr val="tx1"/>
                </a:solidFill>
              </a:rPr>
              <a:t>Outline</a:t>
            </a:r>
            <a:endParaRPr lang="en-US" sz="2400" dirty="0"/>
          </a:p>
        </p:txBody>
      </p:sp>
      <p:sp>
        <p:nvSpPr>
          <p:cNvPr id="4" name="Number 1"/>
          <p:cNvSpPr/>
          <p:nvPr/>
        </p:nvSpPr>
        <p:spPr>
          <a:xfrm>
            <a:off x="548640" y="1207008"/>
            <a:ext cx="347472" cy="347472"/>
          </a:xfrm>
          <a:prstGeom prst="roundRect">
            <a:avLst>
              <a:gd name="adj" fmla="val 13158"/>
            </a:avLst>
          </a:prstGeom>
          <a:solidFill>
            <a:schemeClr val="accent1"/>
          </a:solidFill>
          <a:ln w="12700">
            <a:solidFill>
              <a:schemeClr val="accent1"/>
            </a:solidFill>
            <a:prstDash val="solid"/>
          </a:ln>
        </p:spPr>
      </p:sp>
      <p:sp>
        <p:nvSpPr>
          <p:cNvPr id="5" name="Text 3"/>
          <p:cNvSpPr txBox="1"/>
          <p:nvPr/>
        </p:nvSpPr>
        <p:spPr>
          <a:xfrm>
            <a:off x="548640" y="1207008"/>
            <a:ext cx="347472" cy="347472"/>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6" name="Text 4"/>
          <p:cNvSpPr txBox="1"/>
          <p:nvPr/>
        </p:nvSpPr>
        <p:spPr>
          <a:xfrm>
            <a:off x="1024128" y="1207008"/>
            <a:ext cx="7589520" cy="347472"/>
          </a:xfrm>
          <a:prstGeom prst="rect">
            <a:avLst/>
          </a:prstGeom>
          <a:noFill/>
          <a:ln/>
        </p:spPr>
        <p:txBody>
          <a:bodyPr wrap="square" lIns="0" tIns="0" rIns="0" bIns="0" rtlCol="0" anchor="ctr"/>
          <a:lstStyle/>
          <a:p>
            <a:pPr marL="0" indent="0">
              <a:buNone/>
            </a:pPr>
            <a:r>
              <a:rPr lang="en-US" sz="1400" b="1" dirty="0">
                <a:solidFill>
                  <a:schemeClr val="tx1"/>
                </a:solidFill>
              </a:rPr>
              <a:t>Geometry and vertex calculation</a:t>
            </a:r>
            <a:r>
              <a:rPr lang="en-US" sz="1200" dirty="0">
                <a:solidFill>
                  <a:schemeClr val="tx2"/>
                </a:solidFill>
              </a:rPr>
              <a:t>  —  every vertex and normal from an equation</a:t>
            </a:r>
            <a:endParaRPr lang="en-US" sz="1400" dirty="0"/>
          </a:p>
        </p:txBody>
      </p:sp>
      <p:sp>
        <p:nvSpPr>
          <p:cNvPr id="7" name="Number 2"/>
          <p:cNvSpPr/>
          <p:nvPr/>
        </p:nvSpPr>
        <p:spPr>
          <a:xfrm>
            <a:off x="548640" y="1709928"/>
            <a:ext cx="347472" cy="347472"/>
          </a:xfrm>
          <a:prstGeom prst="roundRect">
            <a:avLst>
              <a:gd name="adj" fmla="val 13158"/>
            </a:avLst>
          </a:prstGeom>
          <a:solidFill>
            <a:schemeClr val="accent1"/>
          </a:solidFill>
          <a:ln w="12700">
            <a:solidFill>
              <a:schemeClr val="accent1"/>
            </a:solidFill>
            <a:prstDash val="solid"/>
          </a:ln>
        </p:spPr>
      </p:sp>
      <p:sp>
        <p:nvSpPr>
          <p:cNvPr id="8" name="Text 6"/>
          <p:cNvSpPr txBox="1"/>
          <p:nvPr/>
        </p:nvSpPr>
        <p:spPr>
          <a:xfrm>
            <a:off x="548640" y="1709928"/>
            <a:ext cx="347472" cy="347472"/>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9" name="Text 7"/>
          <p:cNvSpPr txBox="1"/>
          <p:nvPr/>
        </p:nvSpPr>
        <p:spPr>
          <a:xfrm>
            <a:off x="1024128" y="1709928"/>
            <a:ext cx="7589520" cy="347472"/>
          </a:xfrm>
          <a:prstGeom prst="rect">
            <a:avLst/>
          </a:prstGeom>
          <a:noFill/>
          <a:ln/>
        </p:spPr>
        <p:txBody>
          <a:bodyPr wrap="square" lIns="0" tIns="0" rIns="0" bIns="0" rtlCol="0" anchor="ctr"/>
          <a:lstStyle/>
          <a:p>
            <a:pPr marL="0" indent="0">
              <a:buNone/>
            </a:pPr>
            <a:r>
              <a:rPr lang="en-US" sz="1400" b="1" dirty="0">
                <a:solidFill>
                  <a:schemeClr val="tx1"/>
                </a:solidFill>
              </a:rPr>
              <a:t>Transformations</a:t>
            </a:r>
            <a:r>
              <a:rPr lang="en-US" sz="1200" dirty="0">
                <a:solidFill>
                  <a:schemeClr val="tx2"/>
                </a:solidFill>
              </a:rPr>
              <a:t>  —  model, view and projection matrices by hand</a:t>
            </a:r>
            <a:endParaRPr lang="en-US" sz="1400" dirty="0"/>
          </a:p>
        </p:txBody>
      </p:sp>
      <p:sp>
        <p:nvSpPr>
          <p:cNvPr id="10" name="Number 3"/>
          <p:cNvSpPr/>
          <p:nvPr/>
        </p:nvSpPr>
        <p:spPr>
          <a:xfrm>
            <a:off x="548640" y="2212848"/>
            <a:ext cx="347472" cy="347472"/>
          </a:xfrm>
          <a:prstGeom prst="roundRect">
            <a:avLst>
              <a:gd name="adj" fmla="val 13158"/>
            </a:avLst>
          </a:prstGeom>
          <a:solidFill>
            <a:schemeClr val="accent1"/>
          </a:solidFill>
          <a:ln w="12700">
            <a:solidFill>
              <a:schemeClr val="accent1"/>
            </a:solidFill>
            <a:prstDash val="solid"/>
          </a:ln>
        </p:spPr>
      </p:sp>
      <p:sp>
        <p:nvSpPr>
          <p:cNvPr id="11" name="Text 9"/>
          <p:cNvSpPr txBox="1"/>
          <p:nvPr/>
        </p:nvSpPr>
        <p:spPr>
          <a:xfrm>
            <a:off x="548640" y="2212848"/>
            <a:ext cx="347472" cy="347472"/>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2" name="Text 10"/>
          <p:cNvSpPr txBox="1"/>
          <p:nvPr/>
        </p:nvSpPr>
        <p:spPr>
          <a:xfrm>
            <a:off x="1024128" y="2212848"/>
            <a:ext cx="7589520" cy="347472"/>
          </a:xfrm>
          <a:prstGeom prst="rect">
            <a:avLst/>
          </a:prstGeom>
          <a:noFill/>
          <a:ln/>
        </p:spPr>
        <p:txBody>
          <a:bodyPr wrap="square" lIns="0" tIns="0" rIns="0" bIns="0" rtlCol="0" anchor="ctr"/>
          <a:lstStyle/>
          <a:p>
            <a:pPr marL="0" indent="0">
              <a:buNone/>
            </a:pPr>
            <a:r>
              <a:rPr lang="en-US" sz="1400" b="1" dirty="0">
                <a:solidFill>
                  <a:schemeClr val="tx1"/>
                </a:solidFill>
              </a:rPr>
              <a:t>Illumination model</a:t>
            </a:r>
            <a:r>
              <a:rPr lang="en-US" sz="1200" dirty="0">
                <a:solidFill>
                  <a:schemeClr val="tx2"/>
                </a:solidFill>
              </a:rPr>
              <a:t>  —  Phong reflection with a sun the user can move</a:t>
            </a:r>
            <a:endParaRPr lang="en-US" sz="1400" dirty="0"/>
          </a:p>
        </p:txBody>
      </p:sp>
      <p:sp>
        <p:nvSpPr>
          <p:cNvPr id="13" name="Number 4"/>
          <p:cNvSpPr/>
          <p:nvPr/>
        </p:nvSpPr>
        <p:spPr>
          <a:xfrm>
            <a:off x="548640" y="2715768"/>
            <a:ext cx="347472" cy="347472"/>
          </a:xfrm>
          <a:prstGeom prst="roundRect">
            <a:avLst>
              <a:gd name="adj" fmla="val 13158"/>
            </a:avLst>
          </a:prstGeom>
          <a:solidFill>
            <a:schemeClr val="accent1"/>
          </a:solidFill>
          <a:ln w="12700">
            <a:solidFill>
              <a:schemeClr val="accent1"/>
            </a:solidFill>
            <a:prstDash val="solid"/>
          </a:ln>
        </p:spPr>
      </p:sp>
      <p:sp>
        <p:nvSpPr>
          <p:cNvPr id="14" name="Text 12"/>
          <p:cNvSpPr txBox="1"/>
          <p:nvPr/>
        </p:nvSpPr>
        <p:spPr>
          <a:xfrm>
            <a:off x="548640" y="2715768"/>
            <a:ext cx="347472" cy="347472"/>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15" name="Text 13"/>
          <p:cNvSpPr txBox="1"/>
          <p:nvPr/>
        </p:nvSpPr>
        <p:spPr>
          <a:xfrm>
            <a:off x="1024128" y="2715768"/>
            <a:ext cx="7589520" cy="347472"/>
          </a:xfrm>
          <a:prstGeom prst="rect">
            <a:avLst/>
          </a:prstGeom>
          <a:noFill/>
          <a:ln/>
        </p:spPr>
        <p:txBody>
          <a:bodyPr wrap="square" lIns="0" tIns="0" rIns="0" bIns="0" rtlCol="0" anchor="ctr"/>
          <a:lstStyle/>
          <a:p>
            <a:pPr marL="0" indent="0">
              <a:buNone/>
            </a:pPr>
            <a:r>
              <a:rPr lang="en-US" sz="1400" b="1" dirty="0">
                <a:solidFill>
                  <a:schemeClr val="tx1"/>
                </a:solidFill>
              </a:rPr>
              <a:t>Shading: Gouraud vs Phong</a:t>
            </a:r>
            <a:r>
              <a:rPr lang="en-US" sz="1200" dirty="0">
                <a:solidFill>
                  <a:schemeClr val="tx2"/>
                </a:solidFill>
              </a:rPr>
              <a:t>  —  the same equation in two pipeline stages</a:t>
            </a:r>
            <a:endParaRPr lang="en-US" sz="1400" dirty="0"/>
          </a:p>
        </p:txBody>
      </p:sp>
      <p:sp>
        <p:nvSpPr>
          <p:cNvPr id="16" name="Number 5"/>
          <p:cNvSpPr/>
          <p:nvPr/>
        </p:nvSpPr>
        <p:spPr>
          <a:xfrm>
            <a:off x="548640" y="3218688"/>
            <a:ext cx="347472" cy="347472"/>
          </a:xfrm>
          <a:prstGeom prst="roundRect">
            <a:avLst>
              <a:gd name="adj" fmla="val 13158"/>
            </a:avLst>
          </a:prstGeom>
          <a:solidFill>
            <a:schemeClr val="accent1"/>
          </a:solidFill>
          <a:ln w="12700">
            <a:solidFill>
              <a:schemeClr val="accent1"/>
            </a:solidFill>
            <a:prstDash val="solid"/>
          </a:ln>
        </p:spPr>
      </p:sp>
      <p:sp>
        <p:nvSpPr>
          <p:cNvPr id="17" name="Text 15"/>
          <p:cNvSpPr txBox="1"/>
          <p:nvPr/>
        </p:nvSpPr>
        <p:spPr>
          <a:xfrm>
            <a:off x="548640" y="3218688"/>
            <a:ext cx="347472" cy="347472"/>
          </a:xfrm>
          <a:prstGeom prst="rect">
            <a:avLst/>
          </a:prstGeom>
          <a:no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18" name="Text 16"/>
          <p:cNvSpPr txBox="1"/>
          <p:nvPr/>
        </p:nvSpPr>
        <p:spPr>
          <a:xfrm>
            <a:off x="1024128" y="3218688"/>
            <a:ext cx="7589520" cy="347472"/>
          </a:xfrm>
          <a:prstGeom prst="rect">
            <a:avLst/>
          </a:prstGeom>
          <a:noFill/>
          <a:ln/>
        </p:spPr>
        <p:txBody>
          <a:bodyPr wrap="square" lIns="0" tIns="0" rIns="0" bIns="0" rtlCol="0" anchor="ctr"/>
          <a:lstStyle/>
          <a:p>
            <a:pPr marL="0" indent="0">
              <a:buNone/>
            </a:pPr>
            <a:r>
              <a:rPr lang="en-US" sz="1400" b="1" dirty="0">
                <a:solidFill>
                  <a:schemeClr val="tx1"/>
                </a:solidFill>
              </a:rPr>
              <a:t>Colour, materials and depth</a:t>
            </a:r>
            <a:r>
              <a:rPr lang="en-US" sz="1200" dirty="0">
                <a:solidFill>
                  <a:schemeClr val="tx2"/>
                </a:solidFill>
              </a:rPr>
              <a:t>  —  palettes, gloss and the depth buffer</a:t>
            </a:r>
            <a:endParaRPr lang="en-US" sz="1400" dirty="0"/>
          </a:p>
        </p:txBody>
      </p:sp>
      <p:sp>
        <p:nvSpPr>
          <p:cNvPr id="19" name="Number 6"/>
          <p:cNvSpPr/>
          <p:nvPr/>
        </p:nvSpPr>
        <p:spPr>
          <a:xfrm>
            <a:off x="548640" y="3721608"/>
            <a:ext cx="347472" cy="347472"/>
          </a:xfrm>
          <a:prstGeom prst="roundRect">
            <a:avLst>
              <a:gd name="adj" fmla="val 13158"/>
            </a:avLst>
          </a:prstGeom>
          <a:solidFill>
            <a:schemeClr val="accent1"/>
          </a:solidFill>
          <a:ln w="12700">
            <a:solidFill>
              <a:schemeClr val="accent1"/>
            </a:solidFill>
            <a:prstDash val="solid"/>
          </a:ln>
        </p:spPr>
      </p:sp>
      <p:sp>
        <p:nvSpPr>
          <p:cNvPr id="20" name="Text 18"/>
          <p:cNvSpPr txBox="1"/>
          <p:nvPr/>
        </p:nvSpPr>
        <p:spPr>
          <a:xfrm>
            <a:off x="548640" y="3721608"/>
            <a:ext cx="347472" cy="347472"/>
          </a:xfrm>
          <a:prstGeom prst="rect">
            <a:avLst/>
          </a:prstGeom>
          <a:noFill/>
          <a:ln/>
        </p:spPr>
        <p:txBody>
          <a:bodyPr wrap="square" lIns="0" tIns="0" rIns="0" bIns="0" rtlCol="0" anchor="ctr"/>
          <a:lstStyle/>
          <a:p>
            <a:pPr marL="0" indent="0" algn="ctr">
              <a:buNone/>
            </a:pPr>
            <a:r>
              <a:rPr lang="en-US" sz="1200" b="1" dirty="0">
                <a:solidFill>
                  <a:schemeClr val="bg1"/>
                </a:solidFill>
              </a:rPr>
              <a:t>6</a:t>
            </a:r>
            <a:endParaRPr lang="en-US" sz="1200" dirty="0"/>
          </a:p>
        </p:txBody>
      </p:sp>
      <p:sp>
        <p:nvSpPr>
          <p:cNvPr id="21" name="Text 19"/>
          <p:cNvSpPr txBox="1"/>
          <p:nvPr/>
        </p:nvSpPr>
        <p:spPr>
          <a:xfrm>
            <a:off x="1024128" y="3721608"/>
            <a:ext cx="7589520" cy="347472"/>
          </a:xfrm>
          <a:prstGeom prst="rect">
            <a:avLst/>
          </a:prstGeom>
          <a:noFill/>
          <a:ln/>
        </p:spPr>
        <p:txBody>
          <a:bodyPr wrap="square" lIns="0" tIns="0" rIns="0" bIns="0" rtlCol="0" anchor="ctr"/>
          <a:lstStyle/>
          <a:p>
            <a:pPr marL="0" indent="0">
              <a:buNone/>
            </a:pPr>
            <a:r>
              <a:rPr lang="en-US" sz="1400" b="1" dirty="0">
                <a:solidFill>
                  <a:schemeClr val="tx1"/>
                </a:solidFill>
              </a:rPr>
              <a:t>Simulation and manual flight</a:t>
            </a:r>
            <a:r>
              <a:rPr lang="en-US" sz="1200" dirty="0">
                <a:solidFill>
                  <a:schemeClr val="tx2"/>
                </a:solidFill>
              </a:rPr>
              <a:t>  —  state machines; the airliner flown by hand</a:t>
            </a:r>
            <a:endParaRPr lang="en-US" sz="1400" dirty="0"/>
          </a:p>
        </p:txBody>
      </p:sp>
      <p:sp>
        <p:nvSpPr>
          <p:cNvPr id="22" name="Number 7"/>
          <p:cNvSpPr/>
          <p:nvPr/>
        </p:nvSpPr>
        <p:spPr>
          <a:xfrm>
            <a:off x="548640" y="4224528"/>
            <a:ext cx="347472" cy="347472"/>
          </a:xfrm>
          <a:prstGeom prst="roundRect">
            <a:avLst>
              <a:gd name="adj" fmla="val 13158"/>
            </a:avLst>
          </a:prstGeom>
          <a:solidFill>
            <a:schemeClr val="accent1"/>
          </a:solidFill>
          <a:ln w="12700">
            <a:solidFill>
              <a:schemeClr val="accent1"/>
            </a:solidFill>
            <a:prstDash val="solid"/>
          </a:ln>
        </p:spPr>
      </p:sp>
      <p:sp>
        <p:nvSpPr>
          <p:cNvPr id="23" name="Text 21"/>
          <p:cNvSpPr txBox="1"/>
          <p:nvPr/>
        </p:nvSpPr>
        <p:spPr>
          <a:xfrm>
            <a:off x="548640" y="4224528"/>
            <a:ext cx="347472" cy="347472"/>
          </a:xfrm>
          <a:prstGeom prst="rect">
            <a:avLst/>
          </a:prstGeom>
          <a:noFill/>
          <a:ln/>
        </p:spPr>
        <p:txBody>
          <a:bodyPr wrap="square" lIns="0" tIns="0" rIns="0" bIns="0" rtlCol="0" anchor="ctr"/>
          <a:lstStyle/>
          <a:p>
            <a:pPr marL="0" indent="0" algn="ctr">
              <a:buNone/>
            </a:pPr>
            <a:r>
              <a:rPr lang="en-US" sz="1200" b="1" dirty="0">
                <a:solidFill>
                  <a:schemeClr val="bg1"/>
                </a:solidFill>
              </a:rPr>
              <a:t>7</a:t>
            </a:r>
            <a:endParaRPr lang="en-US" sz="1200" dirty="0"/>
          </a:p>
        </p:txBody>
      </p:sp>
      <p:sp>
        <p:nvSpPr>
          <p:cNvPr id="24" name="Text 22"/>
          <p:cNvSpPr txBox="1"/>
          <p:nvPr/>
        </p:nvSpPr>
        <p:spPr>
          <a:xfrm>
            <a:off x="1024128" y="4224528"/>
            <a:ext cx="7589520" cy="347472"/>
          </a:xfrm>
          <a:prstGeom prst="rect">
            <a:avLst/>
          </a:prstGeom>
          <a:noFill/>
          <a:ln/>
        </p:spPr>
        <p:txBody>
          <a:bodyPr wrap="square" lIns="0" tIns="0" rIns="0" bIns="0" rtlCol="0" anchor="ctr"/>
          <a:lstStyle/>
          <a:p>
            <a:pPr marL="0" indent="0">
              <a:buNone/>
            </a:pPr>
            <a:r>
              <a:rPr lang="en-US" sz="1400" b="1" dirty="0">
                <a:solidFill>
                  <a:schemeClr val="tx1"/>
                </a:solidFill>
              </a:rPr>
              <a:t>Live demonstration</a:t>
            </a:r>
            <a:r>
              <a:rPr lang="en-US" sz="1200" dirty="0">
                <a:solidFill>
                  <a:schemeClr val="tx2"/>
                </a:solidFill>
              </a:rPr>
              <a:t>  —  a recording of the running simulation</a:t>
            </a:r>
            <a:endParaRPr lang="en-US" sz="1400" dirty="0"/>
          </a:p>
        </p:txBody>
      </p:sp>
      <p:sp>
        <p:nvSpPr>
          <p:cNvPr id="25" name="Slide Number Placeholder 0"/>
          <p:cNvSpPr>
            <a:spLocks noGrp="1"/>
          </p:cNvSpPr>
          <p:nvPr>
            <p:ph type="sldNum" sz="quarter" idx="4294967295"/>
          </p:nvPr>
        </p:nvSpPr>
        <p:spPr>
          <a:xfrm>
            <a:off x="8229600" y="4754880"/>
            <a:ext cx="457200" cy="237744"/>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7F7F7F"/>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8229600" cy="237744"/>
          </a:xfrm>
          <a:prstGeom prst="rect">
            <a:avLst/>
          </a:prstGeom>
          <a:noFill/>
          <a:ln/>
        </p:spPr>
        <p:txBody>
          <a:bodyPr wrap="square" lIns="0" tIns="0" rIns="0" bIns="0" rtlCol="0" anchor="ctr"/>
          <a:lstStyle/>
          <a:p>
            <a:pPr marL="0" indent="0" algn="l">
              <a:buNone/>
            </a:pPr>
            <a:r>
              <a:rPr lang="en-US" sz="1000" b="1" kern="0" spc="100" dirty="0">
                <a:solidFill>
                  <a:schemeClr val="accent1"/>
                </a:solidFill>
              </a:rPr>
              <a:t>GEOMETRY AND VERTEX CALCULATION</a:t>
            </a:r>
            <a:endParaRPr lang="en-US" sz="1000" dirty="0"/>
          </a:p>
        </p:txBody>
      </p:sp>
      <p:sp>
        <p:nvSpPr>
          <p:cNvPr id="3" name="Text 1"/>
          <p:cNvSpPr>
            <a:spLocks noGrp="1"/>
          </p:cNvSpPr>
          <p:nvPr>
            <p:ph type="title" idx="102" hasCustomPrompt="1"/>
          </p:nvPr>
        </p:nvSpPr>
        <p:spPr>
          <a:xfrm>
            <a:off x="457200" y="548640"/>
            <a:ext cx="8229600" cy="475488"/>
          </a:xfrm>
          <a:prstGeom prst="rect">
            <a:avLst/>
          </a:prstGeom>
          <a:noFill/>
          <a:ln/>
        </p:spPr>
        <p:txBody>
          <a:bodyPr wrap="square" lIns="0" tIns="0" rIns="0" bIns="0" rtlCol="0" anchor="ctr"/>
          <a:lstStyle/>
          <a:p>
            <a:pPr marL="0" indent="0" algn="l">
              <a:buNone/>
            </a:pPr>
            <a:r>
              <a:rPr lang="en-US" sz="2400" b="1" dirty="0">
                <a:solidFill>
                  <a:schemeClr val="tx1"/>
                </a:solidFill>
              </a:rPr>
              <a:t>Every vertex comes from an equation</a:t>
            </a:r>
            <a:endParaRPr lang="en-US" sz="2400" dirty="0"/>
          </a:p>
        </p:txBody>
      </p:sp>
      <p:pic>
        <p:nvPicPr>
          <p:cNvPr id="4" name="Wireframe and solid airliner" descr="Wireframe and solid airliner"/>
          <p:cNvPicPr>
            <a:picLocks noChangeAspect="1"/>
          </p:cNvPicPr>
          <p:nvPr/>
        </p:nvPicPr>
        <p:blipFill>
          <a:blip r:embed="rId3"/>
          <a:stretch>
            <a:fillRect/>
          </a:stretch>
        </p:blipFill>
        <p:spPr>
          <a:xfrm>
            <a:off x="457200" y="1143000"/>
            <a:ext cx="4663440" cy="1700784"/>
          </a:xfrm>
          <a:prstGeom prst="rect">
            <a:avLst/>
          </a:prstGeom>
        </p:spPr>
      </p:pic>
      <p:sp>
        <p:nvSpPr>
          <p:cNvPr id="5" name="Caption"/>
          <p:cNvSpPr txBox="1"/>
          <p:nvPr/>
        </p:nvSpPr>
        <p:spPr>
          <a:xfrm>
            <a:off x="457200" y="2871216"/>
            <a:ext cx="4663440" cy="237744"/>
          </a:xfrm>
          <a:prstGeom prst="rect">
            <a:avLst/>
          </a:prstGeom>
          <a:noFill/>
          <a:ln/>
        </p:spPr>
        <p:txBody>
          <a:bodyPr wrap="square" lIns="0" tIns="0" rIns="0" bIns="0" rtlCol="0" anchor="ctr"/>
          <a:lstStyle/>
          <a:p>
            <a:pPr marL="0" indent="0">
              <a:buNone/>
            </a:pPr>
            <a:r>
              <a:rPr lang="en-US" sz="950" i="1" dirty="0">
                <a:solidFill>
                  <a:schemeClr val="accent5"/>
                </a:solidFill>
              </a:rPr>
              <a:t>Key F: the wireframe shows every triangle the generators produced</a:t>
            </a:r>
            <a:endParaRPr lang="en-US" sz="950" dirty="0"/>
          </a:p>
        </p:txBody>
      </p:sp>
      <p:sp>
        <p:nvSpPr>
          <p:cNvPr id="6" name="Formula"/>
          <p:cNvSpPr/>
          <p:nvPr/>
        </p:nvSpPr>
        <p:spPr>
          <a:xfrm>
            <a:off x="457200" y="3218688"/>
            <a:ext cx="4663440" cy="438912"/>
          </a:xfrm>
          <a:prstGeom prst="roundRect">
            <a:avLst>
              <a:gd name="adj" fmla="val 12500"/>
            </a:avLst>
          </a:prstGeom>
          <a:solidFill>
            <a:schemeClr val="tx1"/>
          </a:solidFill>
          <a:ln w="12700">
            <a:solidFill>
              <a:schemeClr val="tx1"/>
            </a:solidFill>
            <a:prstDash val="solid"/>
          </a:ln>
        </p:spPr>
      </p:sp>
      <p:sp>
        <p:nvSpPr>
          <p:cNvPr id="7" name="Text 4"/>
          <p:cNvSpPr txBox="1"/>
          <p:nvPr/>
        </p:nvSpPr>
        <p:spPr>
          <a:xfrm>
            <a:off x="457200" y="3218688"/>
            <a:ext cx="4663440" cy="438912"/>
          </a:xfrm>
          <a:prstGeom prst="rect">
            <a:avLst/>
          </a:prstGeom>
          <a:noFill/>
          <a:ln/>
        </p:spPr>
        <p:txBody>
          <a:bodyPr wrap="square" lIns="0" tIns="0" rIns="0" bIns="0" rtlCol="0" anchor="ctr"/>
          <a:lstStyle/>
          <a:p>
            <a:pPr marL="0" indent="0" algn="ctr">
              <a:buNone/>
            </a:pPr>
            <a:r>
              <a:rPr lang="en-US" sz="1300" b="1" dirty="0">
                <a:solidFill>
                  <a:schemeClr val="bg1"/>
                </a:solidFill>
                <a:latin typeface="Cambria" pitchFamily="34" charset="0"/>
                <a:ea typeface="Cambria" pitchFamily="34" charset="-122"/>
                <a:cs typeface="Cambria" pitchFamily="34" charset="-120"/>
              </a:rPr>
              <a:t>n = ( sinφ cosθ,  cosφ,  sinφ sinθ ),   p = 0.5 n</a:t>
            </a:r>
            <a:endParaRPr lang="en-US" sz="1300" dirty="0"/>
          </a:p>
        </p:txBody>
      </p:sp>
      <p:sp>
        <p:nvSpPr>
          <p:cNvPr id="8" name="Text 5"/>
          <p:cNvSpPr txBox="1"/>
          <p:nvPr/>
        </p:nvSpPr>
        <p:spPr>
          <a:xfrm>
            <a:off x="457200" y="3694176"/>
            <a:ext cx="4663440" cy="237744"/>
          </a:xfrm>
          <a:prstGeom prst="rect">
            <a:avLst/>
          </a:prstGeom>
          <a:noFill/>
          <a:ln/>
        </p:spPr>
        <p:txBody>
          <a:bodyPr wrap="square" lIns="0" tIns="0" rIns="0" bIns="0" rtlCol="0" anchor="ctr"/>
          <a:lstStyle/>
          <a:p>
            <a:pPr marL="0" indent="0">
              <a:buNone/>
            </a:pPr>
            <a:r>
              <a:rPr lang="en-US" sz="950" i="1" dirty="0">
                <a:solidFill>
                  <a:schemeClr val="accent5"/>
                </a:solidFill>
              </a:rPr>
              <a:t>UV sphere — the normal is the normalised position</a:t>
            </a:r>
            <a:endParaRPr lang="en-US" sz="950" dirty="0"/>
          </a:p>
        </p:txBody>
      </p:sp>
      <p:sp>
        <p:nvSpPr>
          <p:cNvPr id="9" name="Formula"/>
          <p:cNvSpPr/>
          <p:nvPr/>
        </p:nvSpPr>
        <p:spPr>
          <a:xfrm>
            <a:off x="457200" y="3986784"/>
            <a:ext cx="4663440" cy="438912"/>
          </a:xfrm>
          <a:prstGeom prst="roundRect">
            <a:avLst>
              <a:gd name="adj" fmla="val 12500"/>
            </a:avLst>
          </a:prstGeom>
          <a:solidFill>
            <a:schemeClr val="tx1"/>
          </a:solidFill>
          <a:ln w="12700">
            <a:solidFill>
              <a:schemeClr val="tx1"/>
            </a:solidFill>
            <a:prstDash val="solid"/>
          </a:ln>
        </p:spPr>
      </p:sp>
      <p:sp>
        <p:nvSpPr>
          <p:cNvPr id="10" name="Text 7"/>
          <p:cNvSpPr txBox="1"/>
          <p:nvPr/>
        </p:nvSpPr>
        <p:spPr>
          <a:xfrm>
            <a:off x="457200" y="3986784"/>
            <a:ext cx="4663440" cy="438912"/>
          </a:xfrm>
          <a:prstGeom prst="rect">
            <a:avLst/>
          </a:prstGeom>
          <a:noFill/>
          <a:ln/>
        </p:spPr>
        <p:txBody>
          <a:bodyPr wrap="square" lIns="0" tIns="0" rIns="0" bIns="0" rtlCol="0" anchor="ctr"/>
          <a:lstStyle/>
          <a:p>
            <a:pPr marL="0" indent="0" algn="ctr">
              <a:buNone/>
            </a:pPr>
            <a:r>
              <a:rPr lang="en-US" sz="1300" b="1" dirty="0">
                <a:solidFill>
                  <a:schemeClr val="bg1"/>
                </a:solidFill>
                <a:latin typeface="Cambria" pitchFamily="34" charset="0"/>
                <a:ea typeface="Cambria" pitchFamily="34" charset="-122"/>
                <a:cs typeface="Cambria" pitchFamily="34" charset="-120"/>
              </a:rPr>
              <a:t>n = normalize( cosθ,  r</a:t>
            </a:r>
            <a:r>
              <a:rPr lang="en-US" sz="1300" b="1" baseline="-40000" dirty="0">
                <a:solidFill>
                  <a:schemeClr val="bg1"/>
                </a:solidFill>
                <a:latin typeface="Cambria" pitchFamily="34" charset="0"/>
                <a:ea typeface="Cambria" pitchFamily="34" charset="-122"/>
                <a:cs typeface="Cambria" pitchFamily="34" charset="-120"/>
              </a:rPr>
              <a:t>bottom</a:t>
            </a:r>
            <a:r>
              <a:rPr lang="en-US" sz="1300" b="1" dirty="0">
                <a:solidFill>
                  <a:schemeClr val="bg1"/>
                </a:solidFill>
                <a:latin typeface="Cambria" pitchFamily="34" charset="0"/>
                <a:ea typeface="Cambria" pitchFamily="34" charset="-122"/>
                <a:cs typeface="Cambria" pitchFamily="34" charset="-120"/>
              </a:rPr>
              <a:t> − r</a:t>
            </a:r>
            <a:r>
              <a:rPr lang="en-US" sz="1300" b="1" baseline="-40000" dirty="0">
                <a:solidFill>
                  <a:schemeClr val="bg1"/>
                </a:solidFill>
                <a:latin typeface="Cambria" pitchFamily="34" charset="0"/>
                <a:ea typeface="Cambria" pitchFamily="34" charset="-122"/>
                <a:cs typeface="Cambria" pitchFamily="34" charset="-120"/>
              </a:rPr>
              <a:t>top</a:t>
            </a:r>
            <a:r>
              <a:rPr lang="en-US" sz="1300" b="1" dirty="0">
                <a:solidFill>
                  <a:schemeClr val="bg1"/>
                </a:solidFill>
                <a:latin typeface="Cambria" pitchFamily="34" charset="0"/>
                <a:ea typeface="Cambria" pitchFamily="34" charset="-122"/>
                <a:cs typeface="Cambria" pitchFamily="34" charset="-120"/>
              </a:rPr>
              <a:t>,  sinθ )</a:t>
            </a:r>
            <a:endParaRPr lang="en-US" sz="1300" dirty="0"/>
          </a:p>
        </p:txBody>
      </p:sp>
      <p:sp>
        <p:nvSpPr>
          <p:cNvPr id="11" name="Text 8"/>
          <p:cNvSpPr txBox="1"/>
          <p:nvPr/>
        </p:nvSpPr>
        <p:spPr>
          <a:xfrm>
            <a:off x="457200" y="4462272"/>
            <a:ext cx="4663440" cy="237744"/>
          </a:xfrm>
          <a:prstGeom prst="rect">
            <a:avLst/>
          </a:prstGeom>
          <a:noFill/>
          <a:ln/>
        </p:spPr>
        <p:txBody>
          <a:bodyPr wrap="square" lIns="0" tIns="0" rIns="0" bIns="0" rtlCol="0" anchor="ctr"/>
          <a:lstStyle/>
          <a:p>
            <a:pPr marL="0" indent="0">
              <a:buNone/>
            </a:pPr>
            <a:r>
              <a:rPr lang="en-US" sz="950" i="1" dirty="0">
                <a:solidFill>
                  <a:schemeClr val="accent5"/>
                </a:solidFill>
              </a:rPr>
              <a:t>Cylinder / cone — from the cross product of the two surface tangents</a:t>
            </a:r>
            <a:endParaRPr lang="en-US" sz="950" dirty="0"/>
          </a:p>
        </p:txBody>
      </p:sp>
      <p:sp>
        <p:nvSpPr>
          <p:cNvPr id="12" name="Text 9"/>
          <p:cNvSpPr txBox="1"/>
          <p:nvPr/>
        </p:nvSpPr>
        <p:spPr>
          <a:xfrm>
            <a:off x="5394960" y="1188720"/>
            <a:ext cx="3291840" cy="1371600"/>
          </a:xfrm>
          <a:prstGeom prst="rect">
            <a:avLst/>
          </a:prstGeom>
          <a:noFill/>
          <a:ln/>
        </p:spPr>
        <p:txBody>
          <a:bodyPr wrap="square" lIns="0" tIns="0" rIns="0" bIns="0" rtlCol="0" anchor="t"/>
          <a:lstStyle/>
          <a:p>
            <a:pPr marL="0" indent="0">
              <a:spcAft>
                <a:spcPts val="700"/>
              </a:spcAft>
              <a:buNone/>
            </a:pPr>
            <a:r>
              <a:rPr lang="en-US" sz="1250" b="1" dirty="0">
                <a:solidFill>
                  <a:schemeClr val="tx1"/>
                </a:solidFill>
              </a:rPr>
              <a:t>6 generators</a:t>
            </a:r>
            <a:r>
              <a:rPr lang="en-US" sz="1250" dirty="0">
                <a:solidFill>
                  <a:schemeClr val="tx2"/>
                </a:solidFill>
              </a:rPr>
              <a:t> produce 12 unit-sized meshes, uploaded to the GPU once.</a:t>
            </a:r>
            <a:endParaRPr lang="en-US" sz="1250" dirty="0"/>
          </a:p>
          <a:p>
            <a:pPr marL="0" indent="0">
              <a:spcAft>
                <a:spcPts val="700"/>
              </a:spcAft>
              <a:buNone/>
            </a:pPr>
            <a:r>
              <a:rPr lang="en-US" sz="1250" b="1" dirty="0">
                <a:solidFill>
                  <a:schemeClr val="tx1"/>
                </a:solidFill>
              </a:rPr>
              <a:t>Vertex layout</a:t>
            </a:r>
            <a:r>
              <a:rPr lang="en-US" sz="1250" dirty="0">
                <a:solidFill>
                  <a:schemeClr val="tx2"/>
                </a:solidFill>
              </a:rPr>
              <a:t> 6 floats: position x y z and normal nx ny nz.</a:t>
            </a:r>
            <a:endParaRPr lang="en-US" sz="1250" dirty="0"/>
          </a:p>
          <a:p>
            <a:pPr marL="0" indent="0">
              <a:spcAft>
                <a:spcPts val="700"/>
              </a:spcAft>
              <a:buNone/>
            </a:pPr>
            <a:r>
              <a:rPr lang="en-US" sz="1250" b="1" dirty="0">
                <a:solidFill>
                  <a:schemeClr val="tx1"/>
                </a:solidFill>
              </a:rPr>
              <a:t>Flat vs smooth</a:t>
            </a:r>
            <a:r>
              <a:rPr lang="en-US" sz="1250" dirty="0">
                <a:solidFill>
                  <a:schemeClr val="tx2"/>
                </a:solidFill>
              </a:rPr>
              <a:t> a cube keeps 24 vertices so its edges stay sharp; a sphere shares normals so it looks round.</a:t>
            </a:r>
            <a:endParaRPr lang="en-US" sz="1250" dirty="0"/>
          </a:p>
        </p:txBody>
      </p:sp>
      <p:sp>
        <p:nvSpPr>
          <p:cNvPr id="13" name="Text 10"/>
          <p:cNvSpPr txBox="1"/>
          <p:nvPr/>
        </p:nvSpPr>
        <p:spPr>
          <a:xfrm>
            <a:off x="5394960" y="3200400"/>
            <a:ext cx="1600200" cy="384048"/>
          </a:xfrm>
          <a:prstGeom prst="rect">
            <a:avLst/>
          </a:prstGeom>
          <a:noFill/>
          <a:ln/>
        </p:spPr>
        <p:txBody>
          <a:bodyPr wrap="square" lIns="0" tIns="0" rIns="0" bIns="0" rtlCol="0" anchor="ctr"/>
          <a:lstStyle/>
          <a:p>
            <a:pPr marL="0" indent="0">
              <a:buNone/>
            </a:pPr>
            <a:r>
              <a:rPr lang="en-US" sz="2200" b="1" dirty="0">
                <a:solidFill>
                  <a:schemeClr val="accent1"/>
                </a:solidFill>
              </a:rPr>
              <a:t>1,900</a:t>
            </a:r>
            <a:endParaRPr lang="en-US" sz="2200" dirty="0"/>
          </a:p>
        </p:txBody>
      </p:sp>
      <p:sp>
        <p:nvSpPr>
          <p:cNvPr id="14" name="Text 11"/>
          <p:cNvSpPr txBox="1"/>
          <p:nvPr/>
        </p:nvSpPr>
        <p:spPr>
          <a:xfrm>
            <a:off x="5394960" y="3584448"/>
            <a:ext cx="1600200" cy="365760"/>
          </a:xfrm>
          <a:prstGeom prst="rect">
            <a:avLst/>
          </a:prstGeom>
          <a:noFill/>
          <a:ln/>
        </p:spPr>
        <p:txBody>
          <a:bodyPr wrap="square" lIns="0" tIns="0" rIns="0" bIns="0" rtlCol="0" anchor="t"/>
          <a:lstStyle/>
          <a:p>
            <a:pPr marL="0" indent="0">
              <a:buNone/>
            </a:pPr>
            <a:r>
              <a:rPr lang="en-US" sz="1050" dirty="0">
                <a:solidFill>
                  <a:schemeClr val="tx2"/>
                </a:solidFill>
              </a:rPr>
              <a:t>triangles in the whole mesh library</a:t>
            </a:r>
            <a:endParaRPr lang="en-US" sz="1050" dirty="0"/>
          </a:p>
        </p:txBody>
      </p:sp>
      <p:sp>
        <p:nvSpPr>
          <p:cNvPr id="15" name="Text 12"/>
          <p:cNvSpPr txBox="1"/>
          <p:nvPr/>
        </p:nvSpPr>
        <p:spPr>
          <a:xfrm>
            <a:off x="7086600" y="3200400"/>
            <a:ext cx="1600200" cy="384048"/>
          </a:xfrm>
          <a:prstGeom prst="rect">
            <a:avLst/>
          </a:prstGeom>
          <a:noFill/>
          <a:ln/>
        </p:spPr>
        <p:txBody>
          <a:bodyPr wrap="square" lIns="0" tIns="0" rIns="0" bIns="0" rtlCol="0" anchor="ctr"/>
          <a:lstStyle/>
          <a:p>
            <a:pPr marL="0" indent="0">
              <a:buNone/>
            </a:pPr>
            <a:r>
              <a:rPr lang="en-US" sz="2200" b="1" dirty="0">
                <a:solidFill>
                  <a:schemeClr val="tx1"/>
                </a:solidFill>
              </a:rPr>
              <a:t>425</a:t>
            </a:r>
            <a:endParaRPr lang="en-US" sz="2200" dirty="0"/>
          </a:p>
        </p:txBody>
      </p:sp>
      <p:sp>
        <p:nvSpPr>
          <p:cNvPr id="16" name="Text 13"/>
          <p:cNvSpPr txBox="1"/>
          <p:nvPr/>
        </p:nvSpPr>
        <p:spPr>
          <a:xfrm>
            <a:off x="7086600" y="3584448"/>
            <a:ext cx="1600200" cy="365760"/>
          </a:xfrm>
          <a:prstGeom prst="rect">
            <a:avLst/>
          </a:prstGeom>
          <a:noFill/>
          <a:ln/>
        </p:spPr>
        <p:txBody>
          <a:bodyPr wrap="square" lIns="0" tIns="0" rIns="0" bIns="0" rtlCol="0" anchor="t"/>
          <a:lstStyle/>
          <a:p>
            <a:pPr marL="0" indent="0">
              <a:buNone/>
            </a:pPr>
            <a:r>
              <a:rPr lang="en-US" sz="1050" dirty="0">
                <a:solidFill>
                  <a:schemeClr val="tx2"/>
                </a:solidFill>
              </a:rPr>
              <a:t>vertices in one 24 × 16 UV sphere</a:t>
            </a:r>
            <a:endParaRPr lang="en-US" sz="1050" dirty="0"/>
          </a:p>
        </p:txBody>
      </p:sp>
      <p:sp>
        <p:nvSpPr>
          <p:cNvPr id="25" name="Slide Number Placeholder 0"/>
          <p:cNvSpPr>
            <a:spLocks noGrp="1"/>
          </p:cNvSpPr>
          <p:nvPr>
            <p:ph type="sldNum" sz="quarter" idx="4294967295"/>
          </p:nvPr>
        </p:nvSpPr>
        <p:spPr>
          <a:xfrm>
            <a:off x="8229600" y="4754880"/>
            <a:ext cx="457200" cy="237744"/>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7F7F7F"/>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8229600" cy="237744"/>
          </a:xfrm>
          <a:prstGeom prst="rect">
            <a:avLst/>
          </a:prstGeom>
          <a:noFill/>
          <a:ln/>
        </p:spPr>
        <p:txBody>
          <a:bodyPr wrap="square" lIns="0" tIns="0" rIns="0" bIns="0" rtlCol="0" anchor="ctr"/>
          <a:lstStyle/>
          <a:p>
            <a:pPr marL="0" indent="0" algn="l">
              <a:buNone/>
            </a:pPr>
            <a:r>
              <a:rPr lang="en-US" sz="1000" b="1" kern="0" spc="100" dirty="0">
                <a:solidFill>
                  <a:schemeClr val="accent1"/>
                </a:solidFill>
              </a:rPr>
              <a:t>TRANSFORMATIONS</a:t>
            </a:r>
            <a:endParaRPr lang="en-US" sz="1000" dirty="0"/>
          </a:p>
        </p:txBody>
      </p:sp>
      <p:sp>
        <p:nvSpPr>
          <p:cNvPr id="3" name="Text 1"/>
          <p:cNvSpPr>
            <a:spLocks noGrp="1"/>
          </p:cNvSpPr>
          <p:nvPr>
            <p:ph type="title" idx="102" hasCustomPrompt="1"/>
          </p:nvPr>
        </p:nvSpPr>
        <p:spPr>
          <a:xfrm>
            <a:off x="457200" y="548640"/>
            <a:ext cx="8229600" cy="475488"/>
          </a:xfrm>
          <a:prstGeom prst="rect">
            <a:avLst/>
          </a:prstGeom>
          <a:noFill/>
          <a:ln/>
        </p:spPr>
        <p:txBody>
          <a:bodyPr wrap="square" lIns="0" tIns="0" rIns="0" bIns="0" rtlCol="0" anchor="ctr"/>
          <a:lstStyle/>
          <a:p>
            <a:pPr marL="0" indent="0" algn="l">
              <a:buNone/>
            </a:pPr>
            <a:r>
              <a:rPr lang="en-US" sz="2400" b="1" dirty="0">
                <a:solidFill>
                  <a:schemeClr val="tx1"/>
                </a:solidFill>
              </a:rPr>
              <a:t>Model, view and projection — written by hand</a:t>
            </a:r>
            <a:endParaRPr lang="en-US" sz="2400" dirty="0"/>
          </a:p>
        </p:txBody>
      </p:sp>
      <p:sp>
        <p:nvSpPr>
          <p:cNvPr id="4" name="Formula"/>
          <p:cNvSpPr/>
          <p:nvPr/>
        </p:nvSpPr>
        <p:spPr>
          <a:xfrm>
            <a:off x="457200" y="1143000"/>
            <a:ext cx="8229600" cy="438912"/>
          </a:xfrm>
          <a:prstGeom prst="roundRect">
            <a:avLst>
              <a:gd name="adj" fmla="val 12500"/>
            </a:avLst>
          </a:prstGeom>
          <a:solidFill>
            <a:schemeClr val="tx1"/>
          </a:solidFill>
          <a:ln w="12700">
            <a:solidFill>
              <a:schemeClr val="tx1"/>
            </a:solidFill>
            <a:prstDash val="solid"/>
          </a:ln>
        </p:spPr>
      </p:sp>
      <p:sp>
        <p:nvSpPr>
          <p:cNvPr id="5" name="Text 3"/>
          <p:cNvSpPr txBox="1"/>
          <p:nvPr/>
        </p:nvSpPr>
        <p:spPr>
          <a:xfrm>
            <a:off x="457200" y="1143000"/>
            <a:ext cx="8229600" cy="438912"/>
          </a:xfrm>
          <a:prstGeom prst="rect">
            <a:avLst/>
          </a:prstGeom>
          <a:noFill/>
          <a:ln/>
        </p:spPr>
        <p:txBody>
          <a:bodyPr wrap="square" lIns="0" tIns="0" rIns="0" bIns="0" rtlCol="0" anchor="ctr"/>
          <a:lstStyle/>
          <a:p>
            <a:pPr marL="0" indent="0" algn="ctr">
              <a:buNone/>
            </a:pPr>
            <a:r>
              <a:rPr lang="en-US" sz="1500" b="1" dirty="0">
                <a:solidFill>
                  <a:schemeClr val="bg1"/>
                </a:solidFill>
                <a:latin typeface="Cambria" pitchFamily="34" charset="0"/>
                <a:ea typeface="Cambria" pitchFamily="34" charset="-122"/>
                <a:cs typeface="Cambria" pitchFamily="34" charset="-120"/>
              </a:rPr>
              <a:t>p</a:t>
            </a:r>
            <a:r>
              <a:rPr lang="en-US" sz="1500" b="1" baseline="-40000" dirty="0">
                <a:solidFill>
                  <a:schemeClr val="bg1"/>
                </a:solidFill>
                <a:latin typeface="Cambria" pitchFamily="34" charset="0"/>
                <a:ea typeface="Cambria" pitchFamily="34" charset="-122"/>
                <a:cs typeface="Cambria" pitchFamily="34" charset="-120"/>
              </a:rPr>
              <a:t>clip</a:t>
            </a:r>
            <a:r>
              <a:rPr lang="en-US" sz="1500" b="1" dirty="0">
                <a:solidFill>
                  <a:schemeClr val="bg1"/>
                </a:solidFill>
                <a:latin typeface="Cambria" pitchFamily="34" charset="0"/>
                <a:ea typeface="Cambria" pitchFamily="34" charset="-122"/>
                <a:cs typeface="Cambria" pitchFamily="34" charset="-120"/>
              </a:rPr>
              <a:t> = P · V · M · p</a:t>
            </a:r>
            <a:r>
              <a:rPr lang="en-US" sz="1500" b="1" baseline="-40000" dirty="0">
                <a:solidFill>
                  <a:schemeClr val="bg1"/>
                </a:solidFill>
                <a:latin typeface="Cambria" pitchFamily="34" charset="0"/>
                <a:ea typeface="Cambria" pitchFamily="34" charset="-122"/>
                <a:cs typeface="Cambria" pitchFamily="34" charset="-120"/>
              </a:rPr>
              <a:t>local</a:t>
            </a:r>
            <a:r>
              <a:rPr lang="en-US" sz="1500" b="1" dirty="0">
                <a:solidFill>
                  <a:schemeClr val="bg1"/>
                </a:solidFill>
                <a:latin typeface="Cambria" pitchFamily="34" charset="0"/>
                <a:ea typeface="Cambria" pitchFamily="34" charset="-122"/>
                <a:cs typeface="Cambria" pitchFamily="34" charset="-120"/>
              </a:rPr>
              <a:t>          n</a:t>
            </a:r>
            <a:r>
              <a:rPr lang="en-US" sz="1500" b="1" baseline="-40000" dirty="0">
                <a:solidFill>
                  <a:schemeClr val="bg1"/>
                </a:solidFill>
                <a:latin typeface="Cambria" pitchFamily="34" charset="0"/>
                <a:ea typeface="Cambria" pitchFamily="34" charset="-122"/>
                <a:cs typeface="Cambria" pitchFamily="34" charset="-120"/>
              </a:rPr>
              <a:t>world</a:t>
            </a:r>
            <a:r>
              <a:rPr lang="en-US" sz="1500" b="1" dirty="0">
                <a:solidFill>
                  <a:schemeClr val="bg1"/>
                </a:solidFill>
                <a:latin typeface="Cambria" pitchFamily="34" charset="0"/>
                <a:ea typeface="Cambria" pitchFamily="34" charset="-122"/>
                <a:cs typeface="Cambria" pitchFamily="34" charset="-120"/>
              </a:rPr>
              <a:t> = ( M</a:t>
            </a:r>
            <a:r>
              <a:rPr lang="en-US" sz="1500" b="1" baseline="-40000" dirty="0">
                <a:solidFill>
                  <a:schemeClr val="bg1"/>
                </a:solidFill>
                <a:latin typeface="Cambria" pitchFamily="34" charset="0"/>
                <a:ea typeface="Cambria" pitchFamily="34" charset="-122"/>
                <a:cs typeface="Cambria" pitchFamily="34" charset="-120"/>
              </a:rPr>
              <a:t>3×3</a:t>
            </a:r>
            <a:r>
              <a:rPr lang="en-US" sz="1500" b="1" dirty="0">
                <a:solidFill>
                  <a:schemeClr val="bg1"/>
                </a:solidFill>
                <a:latin typeface="Cambria" pitchFamily="34" charset="0"/>
                <a:ea typeface="Cambria" pitchFamily="34" charset="-122"/>
                <a:cs typeface="Cambria" pitchFamily="34" charset="-120"/>
              </a:rPr>
              <a:t>⁻¹ )ᵀ n</a:t>
            </a:r>
            <a:r>
              <a:rPr lang="en-US" sz="1500" b="1" baseline="-40000" dirty="0">
                <a:solidFill>
                  <a:schemeClr val="bg1"/>
                </a:solidFill>
                <a:latin typeface="Cambria" pitchFamily="34" charset="0"/>
                <a:ea typeface="Cambria" pitchFamily="34" charset="-122"/>
                <a:cs typeface="Cambria" pitchFamily="34" charset="-120"/>
              </a:rPr>
              <a:t>local</a:t>
            </a:r>
            <a:endParaRPr lang="en-US" sz="1500" dirty="0"/>
          </a:p>
        </p:txBody>
      </p:sp>
      <p:sp>
        <p:nvSpPr>
          <p:cNvPr id="6" name="Hierarchy card"/>
          <p:cNvSpPr/>
          <p:nvPr/>
        </p:nvSpPr>
        <p:spPr>
          <a:xfrm>
            <a:off x="457200" y="1783080"/>
            <a:ext cx="2651760" cy="914400"/>
          </a:xfrm>
          <a:prstGeom prst="roundRect">
            <a:avLst>
              <a:gd name="adj" fmla="val 7000"/>
            </a:avLst>
          </a:prstGeom>
          <a:solidFill>
            <a:schemeClr val="bg2"/>
          </a:solidFill>
          <a:ln w="9525">
            <a:solidFill>
              <a:schemeClr val="accent6"/>
            </a:solidFill>
            <a:prstDash val="solid"/>
          </a:ln>
        </p:spPr>
      </p:sp>
      <p:sp>
        <p:nvSpPr>
          <p:cNvPr id="7" name="Text 5"/>
          <p:cNvSpPr txBox="1"/>
          <p:nvPr/>
        </p:nvSpPr>
        <p:spPr>
          <a:xfrm>
            <a:off x="594360" y="1874520"/>
            <a:ext cx="2377440" cy="256032"/>
          </a:xfrm>
          <a:prstGeom prst="rect">
            <a:avLst/>
          </a:prstGeom>
          <a:noFill/>
          <a:ln/>
        </p:spPr>
        <p:txBody>
          <a:bodyPr wrap="square" lIns="0" tIns="0" rIns="0" bIns="0" rtlCol="0" anchor="ctr"/>
          <a:lstStyle/>
          <a:p>
            <a:pPr marL="0" indent="0">
              <a:buNone/>
            </a:pPr>
            <a:r>
              <a:rPr lang="en-US" sz="1300" b="1" dirty="0">
                <a:solidFill>
                  <a:schemeClr val="tx1"/>
                </a:solidFill>
              </a:rPr>
              <a:t>Hierarchy</a:t>
            </a:r>
            <a:endParaRPr lang="en-US" sz="1300" dirty="0"/>
          </a:p>
        </p:txBody>
      </p:sp>
      <p:sp>
        <p:nvSpPr>
          <p:cNvPr id="8" name="Text 6"/>
          <p:cNvSpPr txBox="1"/>
          <p:nvPr/>
        </p:nvSpPr>
        <p:spPr>
          <a:xfrm>
            <a:off x="594360" y="2130552"/>
            <a:ext cx="2377440" cy="512064"/>
          </a:xfrm>
          <a:prstGeom prst="rect">
            <a:avLst/>
          </a:prstGeom>
          <a:noFill/>
          <a:ln/>
        </p:spPr>
        <p:txBody>
          <a:bodyPr wrap="square" lIns="0" tIns="0" rIns="0" bIns="0" rtlCol="0" anchor="t"/>
          <a:lstStyle/>
          <a:p>
            <a:pPr marL="0" indent="0">
              <a:buNone/>
            </a:pPr>
            <a:r>
              <a:rPr lang="en-US" sz="1050" dirty="0">
                <a:solidFill>
                  <a:schemeClr val="tx2"/>
                </a:solidFill>
              </a:rPr>
              <a:t>every part is base × its own T · R · S, read right to left</a:t>
            </a:r>
            <a:endParaRPr lang="en-US" sz="1050" dirty="0"/>
          </a:p>
        </p:txBody>
      </p:sp>
      <p:sp>
        <p:nvSpPr>
          <p:cNvPr id="9" name="Pivot rotation card"/>
          <p:cNvSpPr/>
          <p:nvPr/>
        </p:nvSpPr>
        <p:spPr>
          <a:xfrm>
            <a:off x="3291840" y="1783080"/>
            <a:ext cx="2651760" cy="914400"/>
          </a:xfrm>
          <a:prstGeom prst="roundRect">
            <a:avLst>
              <a:gd name="adj" fmla="val 7000"/>
            </a:avLst>
          </a:prstGeom>
          <a:solidFill>
            <a:schemeClr val="bg2"/>
          </a:solidFill>
          <a:ln w="9525">
            <a:solidFill>
              <a:schemeClr val="accent6"/>
            </a:solidFill>
            <a:prstDash val="solid"/>
          </a:ln>
        </p:spPr>
      </p:sp>
      <p:sp>
        <p:nvSpPr>
          <p:cNvPr id="10" name="Text 8"/>
          <p:cNvSpPr txBox="1"/>
          <p:nvPr/>
        </p:nvSpPr>
        <p:spPr>
          <a:xfrm>
            <a:off x="3429000" y="1874520"/>
            <a:ext cx="2377440" cy="256032"/>
          </a:xfrm>
          <a:prstGeom prst="rect">
            <a:avLst/>
          </a:prstGeom>
          <a:noFill/>
          <a:ln/>
        </p:spPr>
        <p:txBody>
          <a:bodyPr wrap="square" lIns="0" tIns="0" rIns="0" bIns="0" rtlCol="0" anchor="ctr"/>
          <a:lstStyle/>
          <a:p>
            <a:pPr marL="0" indent="0">
              <a:buNone/>
            </a:pPr>
            <a:r>
              <a:rPr lang="en-US" sz="1300" b="1" dirty="0">
                <a:solidFill>
                  <a:schemeClr val="tx1"/>
                </a:solidFill>
              </a:rPr>
              <a:t>Pivot rotation</a:t>
            </a:r>
            <a:endParaRPr lang="en-US" sz="1300" dirty="0"/>
          </a:p>
        </p:txBody>
      </p:sp>
      <p:sp>
        <p:nvSpPr>
          <p:cNvPr id="11" name="Text 9"/>
          <p:cNvSpPr txBox="1"/>
          <p:nvPr/>
        </p:nvSpPr>
        <p:spPr>
          <a:xfrm>
            <a:off x="3429000" y="2130552"/>
            <a:ext cx="2377440" cy="512064"/>
          </a:xfrm>
          <a:prstGeom prst="rect">
            <a:avLst/>
          </a:prstGeom>
          <a:noFill/>
          <a:ln/>
        </p:spPr>
        <p:txBody>
          <a:bodyPr wrap="square" lIns="0" tIns="0" rIns="0" bIns="0" rtlCol="0" anchor="t"/>
          <a:lstStyle/>
          <a:p>
            <a:pPr marL="0" indent="0">
              <a:buNone/>
            </a:pPr>
            <a:r>
              <a:rPr lang="en-US" sz="1050" dirty="0">
                <a:solidFill>
                  <a:schemeClr val="tx2"/>
                </a:solidFill>
              </a:rPr>
              <a:t>T(p) · R · T(−p) for the gear, the rotors and the rocket legs</a:t>
            </a:r>
            <a:endParaRPr lang="en-US" sz="1050" dirty="0"/>
          </a:p>
        </p:txBody>
      </p:sp>
      <p:sp>
        <p:nvSpPr>
          <p:cNvPr id="12" name="Normal matrix card"/>
          <p:cNvSpPr/>
          <p:nvPr/>
        </p:nvSpPr>
        <p:spPr>
          <a:xfrm>
            <a:off x="6126480" y="1783080"/>
            <a:ext cx="2651760" cy="914400"/>
          </a:xfrm>
          <a:prstGeom prst="roundRect">
            <a:avLst>
              <a:gd name="adj" fmla="val 7000"/>
            </a:avLst>
          </a:prstGeom>
          <a:solidFill>
            <a:schemeClr val="bg2"/>
          </a:solidFill>
          <a:ln w="9525">
            <a:solidFill>
              <a:schemeClr val="accent6"/>
            </a:solidFill>
            <a:prstDash val="solid"/>
          </a:ln>
        </p:spPr>
      </p:sp>
      <p:sp>
        <p:nvSpPr>
          <p:cNvPr id="13" name="Text 11"/>
          <p:cNvSpPr txBox="1"/>
          <p:nvPr/>
        </p:nvSpPr>
        <p:spPr>
          <a:xfrm>
            <a:off x="6263640" y="1874520"/>
            <a:ext cx="2377440" cy="256032"/>
          </a:xfrm>
          <a:prstGeom prst="rect">
            <a:avLst/>
          </a:prstGeom>
          <a:noFill/>
          <a:ln/>
        </p:spPr>
        <p:txBody>
          <a:bodyPr wrap="square" lIns="0" tIns="0" rIns="0" bIns="0" rtlCol="0" anchor="ctr"/>
          <a:lstStyle/>
          <a:p>
            <a:pPr marL="0" indent="0">
              <a:buNone/>
            </a:pPr>
            <a:r>
              <a:rPr lang="en-US" sz="1300" b="1" dirty="0">
                <a:solidFill>
                  <a:schemeClr val="tx1"/>
                </a:solidFill>
              </a:rPr>
              <a:t>Normal matrix</a:t>
            </a:r>
            <a:endParaRPr lang="en-US" sz="1300" dirty="0"/>
          </a:p>
        </p:txBody>
      </p:sp>
      <p:sp>
        <p:nvSpPr>
          <p:cNvPr id="14" name="Text 12"/>
          <p:cNvSpPr txBox="1"/>
          <p:nvPr/>
        </p:nvSpPr>
        <p:spPr>
          <a:xfrm>
            <a:off x="6263640" y="2130552"/>
            <a:ext cx="2377440" cy="512064"/>
          </a:xfrm>
          <a:prstGeom prst="rect">
            <a:avLst/>
          </a:prstGeom>
          <a:noFill/>
          <a:ln/>
        </p:spPr>
        <p:txBody>
          <a:bodyPr wrap="square" lIns="0" tIns="0" rIns="0" bIns="0" rtlCol="0" anchor="t"/>
          <a:lstStyle/>
          <a:p>
            <a:pPr marL="0" indent="0">
              <a:buNone/>
            </a:pPr>
            <a:r>
              <a:rPr lang="en-US" sz="1050" dirty="0">
                <a:solidFill>
                  <a:schemeClr val="tx2"/>
                </a:solidFill>
              </a:rPr>
              <a:t>the inverse transpose keeps normals correct under non-uniform scale</a:t>
            </a:r>
            <a:endParaRPr lang="en-US" sz="1050" dirty="0"/>
          </a:p>
        </p:txBody>
      </p:sp>
      <p:pic>
        <p:nvPicPr>
          <p:cNvPr id="15" name="Transformations in motion" descr="Transformations in motion"/>
          <p:cNvPicPr>
            <a:picLocks noChangeAspect="1"/>
          </p:cNvPicPr>
          <p:nvPr/>
        </p:nvPicPr>
        <p:blipFill>
          <a:blip r:embed="rId3"/>
          <a:stretch>
            <a:fillRect/>
          </a:stretch>
        </p:blipFill>
        <p:spPr>
          <a:xfrm>
            <a:off x="457200" y="2880360"/>
            <a:ext cx="8229600" cy="1536192"/>
          </a:xfrm>
          <a:prstGeom prst="rect">
            <a:avLst/>
          </a:prstGeom>
        </p:spPr>
      </p:pic>
      <p:sp>
        <p:nvSpPr>
          <p:cNvPr id="16" name="Caption"/>
          <p:cNvSpPr txBox="1"/>
          <p:nvPr/>
        </p:nvSpPr>
        <p:spPr>
          <a:xfrm>
            <a:off x="457200" y="4443984"/>
            <a:ext cx="8229600" cy="237744"/>
          </a:xfrm>
          <a:prstGeom prst="rect">
            <a:avLst/>
          </a:prstGeom>
          <a:noFill/>
          <a:ln/>
        </p:spPr>
        <p:txBody>
          <a:bodyPr wrap="square" lIns="0" tIns="0" rIns="0" bIns="0" rtlCol="0" anchor="ctr"/>
          <a:lstStyle/>
          <a:p>
            <a:pPr marL="0" indent="0">
              <a:buNone/>
            </a:pPr>
            <a:r>
              <a:rPr lang="en-US" sz="950" i="1" dirty="0">
                <a:solidFill>
                  <a:schemeClr val="accent5"/>
                </a:solidFill>
              </a:rPr>
              <a:t>Rotation about the main wheels at lift-off · boosters separating and tumbling · the second stage with its legs deployed</a:t>
            </a:r>
            <a:endParaRPr lang="en-US" sz="950" dirty="0"/>
          </a:p>
        </p:txBody>
      </p:sp>
      <p:sp>
        <p:nvSpPr>
          <p:cNvPr id="25" name="Slide Number Placeholder 0"/>
          <p:cNvSpPr>
            <a:spLocks noGrp="1"/>
          </p:cNvSpPr>
          <p:nvPr>
            <p:ph type="sldNum" sz="quarter" idx="4294967295"/>
          </p:nvPr>
        </p:nvSpPr>
        <p:spPr>
          <a:xfrm>
            <a:off x="8229600" y="4754880"/>
            <a:ext cx="457200" cy="237744"/>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7F7F7F"/>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8229600" cy="237744"/>
          </a:xfrm>
          <a:prstGeom prst="rect">
            <a:avLst/>
          </a:prstGeom>
          <a:noFill/>
          <a:ln/>
        </p:spPr>
        <p:txBody>
          <a:bodyPr wrap="square" lIns="0" tIns="0" rIns="0" bIns="0" rtlCol="0" anchor="ctr"/>
          <a:lstStyle/>
          <a:p>
            <a:pPr marL="0" indent="0" algn="l">
              <a:buNone/>
            </a:pPr>
            <a:r>
              <a:rPr lang="en-US" sz="1000" b="1" kern="0" spc="100" dirty="0">
                <a:solidFill>
                  <a:schemeClr val="accent1"/>
                </a:solidFill>
              </a:rPr>
              <a:t>ILLUMINATION MODEL</a:t>
            </a:r>
            <a:endParaRPr lang="en-US" sz="1000" dirty="0"/>
          </a:p>
        </p:txBody>
      </p:sp>
      <p:sp>
        <p:nvSpPr>
          <p:cNvPr id="3" name="Text 1"/>
          <p:cNvSpPr>
            <a:spLocks noGrp="1"/>
          </p:cNvSpPr>
          <p:nvPr>
            <p:ph type="title" idx="102" hasCustomPrompt="1"/>
          </p:nvPr>
        </p:nvSpPr>
        <p:spPr>
          <a:xfrm>
            <a:off x="457200" y="548640"/>
            <a:ext cx="8229600" cy="475488"/>
          </a:xfrm>
          <a:prstGeom prst="rect">
            <a:avLst/>
          </a:prstGeom>
          <a:noFill/>
          <a:ln/>
        </p:spPr>
        <p:txBody>
          <a:bodyPr wrap="square" lIns="0" tIns="0" rIns="0" bIns="0" rtlCol="0" anchor="ctr"/>
          <a:lstStyle/>
          <a:p>
            <a:pPr marL="0" indent="0" algn="l">
              <a:buNone/>
            </a:pPr>
            <a:r>
              <a:rPr lang="en-US" sz="2400" b="1" dirty="0">
                <a:solidFill>
                  <a:schemeClr val="tx1"/>
                </a:solidFill>
              </a:rPr>
              <a:t>Phong reflection model, one directional sun</a:t>
            </a:r>
            <a:endParaRPr lang="en-US" sz="2400" dirty="0"/>
          </a:p>
        </p:txBody>
      </p:sp>
      <p:sp>
        <p:nvSpPr>
          <p:cNvPr id="4" name="Formula"/>
          <p:cNvSpPr/>
          <p:nvPr/>
        </p:nvSpPr>
        <p:spPr>
          <a:xfrm>
            <a:off x="457200" y="1143000"/>
            <a:ext cx="8229600" cy="438912"/>
          </a:xfrm>
          <a:prstGeom prst="roundRect">
            <a:avLst>
              <a:gd name="adj" fmla="val 12500"/>
            </a:avLst>
          </a:prstGeom>
          <a:solidFill>
            <a:schemeClr val="tx1"/>
          </a:solidFill>
          <a:ln w="12700">
            <a:solidFill>
              <a:schemeClr val="tx1"/>
            </a:solidFill>
            <a:prstDash val="solid"/>
          </a:ln>
        </p:spPr>
      </p:sp>
      <p:sp>
        <p:nvSpPr>
          <p:cNvPr id="5" name="Text 3"/>
          <p:cNvSpPr txBox="1"/>
          <p:nvPr/>
        </p:nvSpPr>
        <p:spPr>
          <a:xfrm>
            <a:off x="457200" y="1143000"/>
            <a:ext cx="8229600" cy="438912"/>
          </a:xfrm>
          <a:prstGeom prst="rect">
            <a:avLst/>
          </a:prstGeom>
          <a:noFill/>
          <a:ln/>
        </p:spPr>
        <p:txBody>
          <a:bodyPr wrap="square" lIns="0" tIns="0" rIns="0" bIns="0" rtlCol="0" anchor="ctr"/>
          <a:lstStyle/>
          <a:p>
            <a:pPr marL="0" indent="0" algn="ctr">
              <a:buNone/>
            </a:pPr>
            <a:r>
              <a:rPr lang="en-US" sz="1600" b="1" dirty="0">
                <a:solidFill>
                  <a:schemeClr val="bg1"/>
                </a:solidFill>
                <a:latin typeface="Cambria" pitchFamily="34" charset="0"/>
                <a:ea typeface="Cambria" pitchFamily="34" charset="-122"/>
                <a:cs typeface="Cambria" pitchFamily="34" charset="-120"/>
              </a:rPr>
              <a:t>I = k</a:t>
            </a:r>
            <a:r>
              <a:rPr lang="en-US" sz="1600" b="1" baseline="-40000" dirty="0">
                <a:solidFill>
                  <a:schemeClr val="bg1"/>
                </a:solidFill>
                <a:latin typeface="Cambria" pitchFamily="34" charset="0"/>
                <a:ea typeface="Cambria" pitchFamily="34" charset="-122"/>
                <a:cs typeface="Cambria" pitchFamily="34" charset="-120"/>
              </a:rPr>
              <a:t>d</a:t>
            </a:r>
            <a:r>
              <a:rPr lang="en-US" sz="1600" b="1" dirty="0">
                <a:solidFill>
                  <a:schemeClr val="bg1"/>
                </a:solidFill>
                <a:latin typeface="Cambria" pitchFamily="34" charset="0"/>
                <a:ea typeface="Cambria" pitchFamily="34" charset="-122"/>
                <a:cs typeface="Cambria" pitchFamily="34" charset="-120"/>
              </a:rPr>
              <a:t> ( I</a:t>
            </a:r>
            <a:r>
              <a:rPr lang="en-US" sz="1600" b="1" baseline="-40000" dirty="0">
                <a:solidFill>
                  <a:schemeClr val="bg1"/>
                </a:solidFill>
                <a:latin typeface="Cambria" pitchFamily="34" charset="0"/>
                <a:ea typeface="Cambria" pitchFamily="34" charset="-122"/>
                <a:cs typeface="Cambria" pitchFamily="34" charset="-120"/>
              </a:rPr>
              <a:t>a</a:t>
            </a:r>
            <a:r>
              <a:rPr lang="en-US" sz="1600" b="1" dirty="0">
                <a:solidFill>
                  <a:schemeClr val="bg1"/>
                </a:solidFill>
                <a:latin typeface="Cambria" pitchFamily="34" charset="0"/>
                <a:ea typeface="Cambria" pitchFamily="34" charset="-122"/>
                <a:cs typeface="Cambria" pitchFamily="34" charset="-120"/>
              </a:rPr>
              <a:t> + I</a:t>
            </a:r>
            <a:r>
              <a:rPr lang="en-US" sz="1600" b="1" baseline="-40000" dirty="0">
                <a:solidFill>
                  <a:schemeClr val="bg1"/>
                </a:solidFill>
                <a:latin typeface="Cambria" pitchFamily="34" charset="0"/>
                <a:ea typeface="Cambria" pitchFamily="34" charset="-122"/>
                <a:cs typeface="Cambria" pitchFamily="34" charset="-120"/>
              </a:rPr>
              <a:t>d</a:t>
            </a:r>
            <a:r>
              <a:rPr lang="en-US" sz="1600" b="1" dirty="0">
                <a:solidFill>
                  <a:schemeClr val="bg1"/>
                </a:solidFill>
                <a:latin typeface="Cambria" pitchFamily="34" charset="0"/>
                <a:ea typeface="Cambria" pitchFamily="34" charset="-122"/>
                <a:cs typeface="Cambria" pitchFamily="34" charset="-120"/>
              </a:rPr>
              <a:t> max(N·L, 0) )  +  I</a:t>
            </a:r>
            <a:r>
              <a:rPr lang="en-US" sz="1600" b="1" baseline="-40000" dirty="0">
                <a:solidFill>
                  <a:schemeClr val="bg1"/>
                </a:solidFill>
                <a:latin typeface="Cambria" pitchFamily="34" charset="0"/>
                <a:ea typeface="Cambria" pitchFamily="34" charset="-122"/>
                <a:cs typeface="Cambria" pitchFamily="34" charset="-120"/>
              </a:rPr>
              <a:t>s</a:t>
            </a:r>
            <a:r>
              <a:rPr lang="en-US" sz="1600" b="1" dirty="0">
                <a:solidFill>
                  <a:schemeClr val="bg1"/>
                </a:solidFill>
                <a:latin typeface="Cambria" pitchFamily="34" charset="0"/>
                <a:ea typeface="Cambria" pitchFamily="34" charset="-122"/>
                <a:cs typeface="Cambria" pitchFamily="34" charset="-120"/>
              </a:rPr>
              <a:t> · gloss · max(R·V, 0)</a:t>
            </a:r>
            <a:r>
              <a:rPr lang="en-US" sz="1600" b="1" baseline="30000" dirty="0">
                <a:solidFill>
                  <a:schemeClr val="bg1"/>
                </a:solidFill>
                <a:latin typeface="Cambria" pitchFamily="34" charset="0"/>
                <a:ea typeface="Cambria" pitchFamily="34" charset="-122"/>
                <a:cs typeface="Cambria" pitchFamily="34" charset="-120"/>
              </a:rPr>
              <a:t>n</a:t>
            </a:r>
            <a:endParaRPr lang="en-US" sz="1600" dirty="0"/>
          </a:p>
        </p:txBody>
      </p:sp>
      <p:sp>
        <p:nvSpPr>
          <p:cNvPr id="6" name="Ambient  0.28 card"/>
          <p:cNvSpPr/>
          <p:nvPr/>
        </p:nvSpPr>
        <p:spPr>
          <a:xfrm>
            <a:off x="457200" y="1783080"/>
            <a:ext cx="2651760" cy="868680"/>
          </a:xfrm>
          <a:prstGeom prst="roundRect">
            <a:avLst>
              <a:gd name="adj" fmla="val 7368"/>
            </a:avLst>
          </a:prstGeom>
          <a:solidFill>
            <a:schemeClr val="bg2"/>
          </a:solidFill>
          <a:ln w="9525">
            <a:solidFill>
              <a:schemeClr val="accent6"/>
            </a:solidFill>
            <a:prstDash val="solid"/>
          </a:ln>
        </p:spPr>
      </p:sp>
      <p:sp>
        <p:nvSpPr>
          <p:cNvPr id="7" name="Text 5"/>
          <p:cNvSpPr txBox="1"/>
          <p:nvPr/>
        </p:nvSpPr>
        <p:spPr>
          <a:xfrm>
            <a:off x="594360" y="1865376"/>
            <a:ext cx="2377440" cy="256032"/>
          </a:xfrm>
          <a:prstGeom prst="rect">
            <a:avLst/>
          </a:prstGeom>
          <a:noFill/>
          <a:ln/>
        </p:spPr>
        <p:txBody>
          <a:bodyPr wrap="square" lIns="0" tIns="0" rIns="0" bIns="0" rtlCol="0" anchor="ctr"/>
          <a:lstStyle/>
          <a:p>
            <a:pPr marL="0" indent="0">
              <a:buNone/>
            </a:pPr>
            <a:r>
              <a:rPr lang="en-US" sz="1250" b="1" dirty="0">
                <a:solidFill>
                  <a:schemeClr val="tx1"/>
                </a:solidFill>
              </a:rPr>
              <a:t>Ambient  0.28</a:t>
            </a:r>
            <a:endParaRPr lang="en-US" sz="1250" dirty="0"/>
          </a:p>
        </p:txBody>
      </p:sp>
      <p:sp>
        <p:nvSpPr>
          <p:cNvPr id="8" name="Text 6"/>
          <p:cNvSpPr txBox="1"/>
          <p:nvPr/>
        </p:nvSpPr>
        <p:spPr>
          <a:xfrm>
            <a:off x="594360" y="2121408"/>
            <a:ext cx="2377440" cy="457200"/>
          </a:xfrm>
          <a:prstGeom prst="rect">
            <a:avLst/>
          </a:prstGeom>
          <a:noFill/>
          <a:ln/>
        </p:spPr>
        <p:txBody>
          <a:bodyPr wrap="square" lIns="0" tIns="0" rIns="0" bIns="0" rtlCol="0" anchor="t"/>
          <a:lstStyle/>
          <a:p>
            <a:pPr marL="0" indent="0">
              <a:buNone/>
            </a:pPr>
            <a:r>
              <a:rPr lang="en-US" sz="1050" dirty="0">
                <a:solidFill>
                  <a:schemeClr val="tx2"/>
                </a:solidFill>
              </a:rPr>
              <a:t>bounced light: shadowed faces are dark, not black</a:t>
            </a:r>
            <a:endParaRPr lang="en-US" sz="1050" dirty="0"/>
          </a:p>
        </p:txBody>
      </p:sp>
      <p:sp>
        <p:nvSpPr>
          <p:cNvPr id="9" name="Diffuse  0.85 card"/>
          <p:cNvSpPr/>
          <p:nvPr/>
        </p:nvSpPr>
        <p:spPr>
          <a:xfrm>
            <a:off x="3291840" y="1783080"/>
            <a:ext cx="2651760" cy="868680"/>
          </a:xfrm>
          <a:prstGeom prst="roundRect">
            <a:avLst>
              <a:gd name="adj" fmla="val 7368"/>
            </a:avLst>
          </a:prstGeom>
          <a:solidFill>
            <a:schemeClr val="bg2"/>
          </a:solidFill>
          <a:ln w="9525">
            <a:solidFill>
              <a:schemeClr val="accent6"/>
            </a:solidFill>
            <a:prstDash val="solid"/>
          </a:ln>
        </p:spPr>
      </p:sp>
      <p:sp>
        <p:nvSpPr>
          <p:cNvPr id="10" name="Text 8"/>
          <p:cNvSpPr txBox="1"/>
          <p:nvPr/>
        </p:nvSpPr>
        <p:spPr>
          <a:xfrm>
            <a:off x="3429000" y="1865376"/>
            <a:ext cx="2377440" cy="256032"/>
          </a:xfrm>
          <a:prstGeom prst="rect">
            <a:avLst/>
          </a:prstGeom>
          <a:noFill/>
          <a:ln/>
        </p:spPr>
        <p:txBody>
          <a:bodyPr wrap="square" lIns="0" tIns="0" rIns="0" bIns="0" rtlCol="0" anchor="ctr"/>
          <a:lstStyle/>
          <a:p>
            <a:pPr marL="0" indent="0">
              <a:buNone/>
            </a:pPr>
            <a:r>
              <a:rPr lang="en-US" sz="1250" b="1" dirty="0">
                <a:solidFill>
                  <a:schemeClr val="tx1"/>
                </a:solidFill>
              </a:rPr>
              <a:t>Diffuse  0.85</a:t>
            </a:r>
            <a:endParaRPr lang="en-US" sz="1250" dirty="0"/>
          </a:p>
        </p:txBody>
      </p:sp>
      <p:sp>
        <p:nvSpPr>
          <p:cNvPr id="11" name="Text 9"/>
          <p:cNvSpPr txBox="1"/>
          <p:nvPr/>
        </p:nvSpPr>
        <p:spPr>
          <a:xfrm>
            <a:off x="3429000" y="2121408"/>
            <a:ext cx="2377440" cy="457200"/>
          </a:xfrm>
          <a:prstGeom prst="rect">
            <a:avLst/>
          </a:prstGeom>
          <a:noFill/>
          <a:ln/>
        </p:spPr>
        <p:txBody>
          <a:bodyPr wrap="square" lIns="0" tIns="0" rIns="0" bIns="0" rtlCol="0" anchor="t"/>
          <a:lstStyle/>
          <a:p>
            <a:pPr marL="0" indent="0">
              <a:buNone/>
            </a:pPr>
            <a:r>
              <a:rPr lang="en-US" sz="1050" dirty="0">
                <a:solidFill>
                  <a:schemeClr val="tx2"/>
                </a:solidFill>
              </a:rPr>
              <a:t>Lambert — brighter the more a face turns to the sun</a:t>
            </a:r>
            <a:endParaRPr lang="en-US" sz="1050" dirty="0"/>
          </a:p>
        </p:txBody>
      </p:sp>
      <p:sp>
        <p:nvSpPr>
          <p:cNvPr id="12" name="Specular  0.65, n = 36 card"/>
          <p:cNvSpPr/>
          <p:nvPr/>
        </p:nvSpPr>
        <p:spPr>
          <a:xfrm>
            <a:off x="6126480" y="1783080"/>
            <a:ext cx="2651760" cy="868680"/>
          </a:xfrm>
          <a:prstGeom prst="roundRect">
            <a:avLst>
              <a:gd name="adj" fmla="val 7368"/>
            </a:avLst>
          </a:prstGeom>
          <a:solidFill>
            <a:schemeClr val="bg2"/>
          </a:solidFill>
          <a:ln w="9525">
            <a:solidFill>
              <a:schemeClr val="accent6"/>
            </a:solidFill>
            <a:prstDash val="solid"/>
          </a:ln>
        </p:spPr>
      </p:sp>
      <p:sp>
        <p:nvSpPr>
          <p:cNvPr id="13" name="Text 11"/>
          <p:cNvSpPr txBox="1"/>
          <p:nvPr/>
        </p:nvSpPr>
        <p:spPr>
          <a:xfrm>
            <a:off x="6263640" y="1865376"/>
            <a:ext cx="2377440" cy="256032"/>
          </a:xfrm>
          <a:prstGeom prst="rect">
            <a:avLst/>
          </a:prstGeom>
          <a:noFill/>
          <a:ln/>
        </p:spPr>
        <p:txBody>
          <a:bodyPr wrap="square" lIns="0" tIns="0" rIns="0" bIns="0" rtlCol="0" anchor="ctr"/>
          <a:lstStyle/>
          <a:p>
            <a:pPr marL="0" indent="0">
              <a:buNone/>
            </a:pPr>
            <a:r>
              <a:rPr lang="en-US" sz="1250" b="1" dirty="0">
                <a:solidFill>
                  <a:schemeClr val="tx1"/>
                </a:solidFill>
              </a:rPr>
              <a:t>Specular  0.65, n = 36</a:t>
            </a:r>
            <a:endParaRPr lang="en-US" sz="1250" dirty="0"/>
          </a:p>
        </p:txBody>
      </p:sp>
      <p:sp>
        <p:nvSpPr>
          <p:cNvPr id="14" name="Text 12"/>
          <p:cNvSpPr txBox="1"/>
          <p:nvPr/>
        </p:nvSpPr>
        <p:spPr>
          <a:xfrm>
            <a:off x="6263640" y="2121408"/>
            <a:ext cx="2377440" cy="457200"/>
          </a:xfrm>
          <a:prstGeom prst="rect">
            <a:avLst/>
          </a:prstGeom>
          <a:noFill/>
          <a:ln/>
        </p:spPr>
        <p:txBody>
          <a:bodyPr wrap="square" lIns="0" tIns="0" rIns="0" bIns="0" rtlCol="0" anchor="t"/>
          <a:lstStyle/>
          <a:p>
            <a:pPr marL="0" indent="0">
              <a:buNone/>
            </a:pPr>
            <a:r>
              <a:rPr lang="en-US" sz="1050" dirty="0">
                <a:solidFill>
                  <a:schemeClr val="tx2"/>
                </a:solidFill>
              </a:rPr>
              <a:t>white highlight near the mirror direction R</a:t>
            </a:r>
            <a:endParaRPr lang="en-US" sz="1050" dirty="0"/>
          </a:p>
        </p:txBody>
      </p:sp>
      <p:pic>
        <p:nvPicPr>
          <p:cNvPr id="15" name="The sun in three positions" descr="The sun in three positions"/>
          <p:cNvPicPr>
            <a:picLocks noChangeAspect="1"/>
          </p:cNvPicPr>
          <p:nvPr/>
        </p:nvPicPr>
        <p:blipFill>
          <a:blip r:embed="rId3"/>
          <a:stretch>
            <a:fillRect/>
          </a:stretch>
        </p:blipFill>
        <p:spPr>
          <a:xfrm>
            <a:off x="457200" y="2834640"/>
            <a:ext cx="8229600" cy="1536192"/>
          </a:xfrm>
          <a:prstGeom prst="rect">
            <a:avLst/>
          </a:prstGeom>
        </p:spPr>
      </p:pic>
      <p:sp>
        <p:nvSpPr>
          <p:cNvPr id="16" name="Caption"/>
          <p:cNvSpPr txBox="1"/>
          <p:nvPr/>
        </p:nvSpPr>
        <p:spPr>
          <a:xfrm>
            <a:off x="457200" y="4398264"/>
            <a:ext cx="8229600" cy="237744"/>
          </a:xfrm>
          <a:prstGeom prst="rect">
            <a:avLst/>
          </a:prstGeom>
          <a:noFill/>
          <a:ln/>
        </p:spPr>
        <p:txBody>
          <a:bodyPr wrap="square" lIns="0" tIns="0" rIns="0" bIns="0" rtlCol="0" anchor="ctr"/>
          <a:lstStyle/>
          <a:p>
            <a:pPr marL="0" indent="0">
              <a:buNone/>
            </a:pPr>
            <a:r>
              <a:rPr lang="en-US" sz="950" i="1" dirty="0">
                <a:solidFill>
                  <a:schemeClr val="accent5"/>
                </a:solidFill>
              </a:rPr>
              <a:t>The user moves the sun with [ ] and ; ' — at 12° the ground takes only sin 12° ≈ 0.21 of the diffuse light</a:t>
            </a:r>
            <a:endParaRPr lang="en-US" sz="950" dirty="0"/>
          </a:p>
        </p:txBody>
      </p:sp>
      <p:sp>
        <p:nvSpPr>
          <p:cNvPr id="25" name="Slide Number Placeholder 0"/>
          <p:cNvSpPr>
            <a:spLocks noGrp="1"/>
          </p:cNvSpPr>
          <p:nvPr>
            <p:ph type="sldNum" sz="quarter" idx="4294967295"/>
          </p:nvPr>
        </p:nvSpPr>
        <p:spPr>
          <a:xfrm>
            <a:off x="8229600" y="4754880"/>
            <a:ext cx="457200" cy="237744"/>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7F7F7F"/>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8229600" cy="237744"/>
          </a:xfrm>
          <a:prstGeom prst="rect">
            <a:avLst/>
          </a:prstGeom>
          <a:noFill/>
          <a:ln/>
        </p:spPr>
        <p:txBody>
          <a:bodyPr wrap="square" lIns="0" tIns="0" rIns="0" bIns="0" rtlCol="0" anchor="ctr"/>
          <a:lstStyle/>
          <a:p>
            <a:pPr marL="0" indent="0" algn="l">
              <a:buNone/>
            </a:pPr>
            <a:r>
              <a:rPr lang="en-US" sz="1000" b="1" kern="0" spc="100" dirty="0">
                <a:solidFill>
                  <a:schemeClr val="accent1"/>
                </a:solidFill>
              </a:rPr>
              <a:t>SHADING</a:t>
            </a:r>
            <a:endParaRPr lang="en-US" sz="1000" dirty="0"/>
          </a:p>
        </p:txBody>
      </p:sp>
      <p:sp>
        <p:nvSpPr>
          <p:cNvPr id="3" name="Text 1"/>
          <p:cNvSpPr>
            <a:spLocks noGrp="1"/>
          </p:cNvSpPr>
          <p:nvPr>
            <p:ph type="title" idx="102" hasCustomPrompt="1"/>
          </p:nvPr>
        </p:nvSpPr>
        <p:spPr>
          <a:xfrm>
            <a:off x="457200" y="548640"/>
            <a:ext cx="8229600" cy="475488"/>
          </a:xfrm>
          <a:prstGeom prst="rect">
            <a:avLst/>
          </a:prstGeom>
          <a:noFill/>
          <a:ln/>
        </p:spPr>
        <p:txBody>
          <a:bodyPr wrap="square" lIns="0" tIns="0" rIns="0" bIns="0" rtlCol="0" anchor="ctr"/>
          <a:lstStyle/>
          <a:p>
            <a:pPr marL="0" indent="0" algn="l">
              <a:buNone/>
            </a:pPr>
            <a:r>
              <a:rPr lang="en-US" sz="2400" b="1" dirty="0">
                <a:solidFill>
                  <a:schemeClr val="tx1"/>
                </a:solidFill>
              </a:rPr>
              <a:t>Same equation — evaluated in two different places</a:t>
            </a:r>
            <a:endParaRPr lang="en-US" sz="2400" dirty="0"/>
          </a:p>
        </p:txBody>
      </p:sp>
      <p:pic>
        <p:nvPicPr>
          <p:cNvPr id="4" name="Flat, Gouraud, Phong and the difference" descr="Flat, Gouraud, Phong and the difference"/>
          <p:cNvPicPr>
            <a:picLocks noChangeAspect="1"/>
          </p:cNvPicPr>
          <p:nvPr/>
        </p:nvPicPr>
        <p:blipFill>
          <a:blip r:embed="rId3"/>
          <a:stretch>
            <a:fillRect/>
          </a:stretch>
        </p:blipFill>
        <p:spPr>
          <a:xfrm>
            <a:off x="457200" y="1143000"/>
            <a:ext cx="4572000" cy="3355848"/>
          </a:xfrm>
          <a:prstGeom prst="rect">
            <a:avLst/>
          </a:prstGeom>
        </p:spPr>
      </p:pic>
      <p:sp>
        <p:nvSpPr>
          <p:cNvPr id="5" name="Caption"/>
          <p:cNvSpPr txBox="1"/>
          <p:nvPr/>
        </p:nvSpPr>
        <p:spPr>
          <a:xfrm>
            <a:off x="457200" y="4526280"/>
            <a:ext cx="4572000" cy="237744"/>
          </a:xfrm>
          <a:prstGeom prst="rect">
            <a:avLst/>
          </a:prstGeom>
          <a:noFill/>
          <a:ln/>
        </p:spPr>
        <p:txBody>
          <a:bodyPr wrap="square" lIns="0" tIns="0" rIns="0" bIns="0" rtlCol="0" anchor="ctr"/>
          <a:lstStyle/>
          <a:p>
            <a:pPr marL="0" indent="0">
              <a:buNone/>
            </a:pPr>
            <a:r>
              <a:rPr lang="en-US" sz="950" i="1" dirty="0">
                <a:solidFill>
                  <a:schemeClr val="accent5"/>
                </a:solidFill>
              </a:rPr>
              <a:t>Identical frame, identical geometry, identical sun</a:t>
            </a:r>
            <a:endParaRPr lang="en-US" sz="950" dirty="0"/>
          </a:p>
        </p:txBody>
      </p:sp>
      <p:sp>
        <p:nvSpPr>
          <p:cNvPr id="6" name="Key N"/>
          <p:cNvSpPr/>
          <p:nvPr/>
        </p:nvSpPr>
        <p:spPr>
          <a:xfrm>
            <a:off x="5303520" y="1188720"/>
            <a:ext cx="384048" cy="384048"/>
          </a:xfrm>
          <a:prstGeom prst="roundRect">
            <a:avLst>
              <a:gd name="adj" fmla="val 11905"/>
            </a:avLst>
          </a:prstGeom>
          <a:solidFill>
            <a:schemeClr val="tx1"/>
          </a:solidFill>
          <a:ln w="12700">
            <a:solidFill>
              <a:schemeClr val="tx1"/>
            </a:solidFill>
            <a:prstDash val="solid"/>
          </a:ln>
        </p:spPr>
      </p:sp>
      <p:sp>
        <p:nvSpPr>
          <p:cNvPr id="7" name="Text 4"/>
          <p:cNvSpPr txBox="1"/>
          <p:nvPr/>
        </p:nvSpPr>
        <p:spPr>
          <a:xfrm>
            <a:off x="5303520" y="1188720"/>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N</a:t>
            </a:r>
            <a:endParaRPr lang="en-US" sz="1300" dirty="0"/>
          </a:p>
        </p:txBody>
      </p:sp>
      <p:sp>
        <p:nvSpPr>
          <p:cNvPr id="8" name="Text 5"/>
          <p:cNvSpPr txBox="1"/>
          <p:nvPr/>
        </p:nvSpPr>
        <p:spPr>
          <a:xfrm>
            <a:off x="5806440" y="1161288"/>
            <a:ext cx="2880360" cy="475488"/>
          </a:xfrm>
          <a:prstGeom prst="rect">
            <a:avLst/>
          </a:prstGeom>
          <a:noFill/>
          <a:ln/>
        </p:spPr>
        <p:txBody>
          <a:bodyPr wrap="square" lIns="0" tIns="0" rIns="0" bIns="0" rtlCol="0" anchor="ctr"/>
          <a:lstStyle/>
          <a:p>
            <a:pPr marL="0" indent="0">
              <a:buNone/>
            </a:pPr>
            <a:r>
              <a:rPr lang="en-US" sz="1250" b="1" dirty="0">
                <a:solidFill>
                  <a:schemeClr val="tx1"/>
                </a:solidFill>
              </a:rPr>
              <a:t>Flat</a:t>
            </a:r>
            <a:endParaRPr lang="en-US" sz="1250" dirty="0"/>
          </a:p>
          <a:p>
            <a:pPr marL="0" indent="0">
              <a:buNone/>
            </a:pPr>
            <a:r>
              <a:rPr lang="en-US" sz="1050" dirty="0">
                <a:solidFill>
                  <a:schemeClr val="tx2"/>
                </a:solidFill>
              </a:rPr>
              <a:t>no lighting at all</a:t>
            </a:r>
            <a:endParaRPr lang="en-US" sz="1250" dirty="0"/>
          </a:p>
        </p:txBody>
      </p:sp>
      <p:sp>
        <p:nvSpPr>
          <p:cNvPr id="9" name="Key G"/>
          <p:cNvSpPr/>
          <p:nvPr/>
        </p:nvSpPr>
        <p:spPr>
          <a:xfrm>
            <a:off x="5303520" y="1755648"/>
            <a:ext cx="384048" cy="384048"/>
          </a:xfrm>
          <a:prstGeom prst="roundRect">
            <a:avLst>
              <a:gd name="adj" fmla="val 11905"/>
            </a:avLst>
          </a:prstGeom>
          <a:solidFill>
            <a:schemeClr val="tx1"/>
          </a:solidFill>
          <a:ln w="12700">
            <a:solidFill>
              <a:schemeClr val="tx1"/>
            </a:solidFill>
            <a:prstDash val="solid"/>
          </a:ln>
        </p:spPr>
      </p:sp>
      <p:sp>
        <p:nvSpPr>
          <p:cNvPr id="10" name="Text 7"/>
          <p:cNvSpPr txBox="1"/>
          <p:nvPr/>
        </p:nvSpPr>
        <p:spPr>
          <a:xfrm>
            <a:off x="5303520" y="1755648"/>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G</a:t>
            </a:r>
            <a:endParaRPr lang="en-US" sz="1300" dirty="0"/>
          </a:p>
        </p:txBody>
      </p:sp>
      <p:sp>
        <p:nvSpPr>
          <p:cNvPr id="11" name="Text 8"/>
          <p:cNvSpPr txBox="1"/>
          <p:nvPr/>
        </p:nvSpPr>
        <p:spPr>
          <a:xfrm>
            <a:off x="5806440" y="1728216"/>
            <a:ext cx="2880360" cy="475488"/>
          </a:xfrm>
          <a:prstGeom prst="rect">
            <a:avLst/>
          </a:prstGeom>
          <a:noFill/>
          <a:ln/>
        </p:spPr>
        <p:txBody>
          <a:bodyPr wrap="square" lIns="0" tIns="0" rIns="0" bIns="0" rtlCol="0" anchor="ctr"/>
          <a:lstStyle/>
          <a:p>
            <a:pPr marL="0" indent="0">
              <a:buNone/>
            </a:pPr>
            <a:r>
              <a:rPr lang="en-US" sz="1250" b="1" dirty="0">
                <a:solidFill>
                  <a:schemeClr val="tx1"/>
                </a:solidFill>
              </a:rPr>
              <a:t>Gouraud</a:t>
            </a:r>
            <a:endParaRPr lang="en-US" sz="1250" dirty="0"/>
          </a:p>
          <a:p>
            <a:pPr marL="0" indent="0">
              <a:buNone/>
            </a:pPr>
            <a:r>
              <a:rPr lang="en-US" sz="1050" dirty="0">
                <a:solidFill>
                  <a:schemeClr val="tx2"/>
                </a:solidFill>
              </a:rPr>
              <a:t>lit once per vertex, the colour interpolated</a:t>
            </a:r>
            <a:endParaRPr lang="en-US" sz="1250" dirty="0"/>
          </a:p>
        </p:txBody>
      </p:sp>
      <p:sp>
        <p:nvSpPr>
          <p:cNvPr id="12" name="Key B"/>
          <p:cNvSpPr/>
          <p:nvPr/>
        </p:nvSpPr>
        <p:spPr>
          <a:xfrm>
            <a:off x="5303520" y="2322576"/>
            <a:ext cx="384048" cy="384048"/>
          </a:xfrm>
          <a:prstGeom prst="roundRect">
            <a:avLst>
              <a:gd name="adj" fmla="val 11905"/>
            </a:avLst>
          </a:prstGeom>
          <a:solidFill>
            <a:schemeClr val="tx1"/>
          </a:solidFill>
          <a:ln w="12700">
            <a:solidFill>
              <a:schemeClr val="tx1"/>
            </a:solidFill>
            <a:prstDash val="solid"/>
          </a:ln>
        </p:spPr>
      </p:sp>
      <p:sp>
        <p:nvSpPr>
          <p:cNvPr id="13" name="Text 10"/>
          <p:cNvSpPr txBox="1"/>
          <p:nvPr/>
        </p:nvSpPr>
        <p:spPr>
          <a:xfrm>
            <a:off x="5303520" y="2322576"/>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B</a:t>
            </a:r>
            <a:endParaRPr lang="en-US" sz="1300" dirty="0"/>
          </a:p>
        </p:txBody>
      </p:sp>
      <p:sp>
        <p:nvSpPr>
          <p:cNvPr id="14" name="Text 11"/>
          <p:cNvSpPr txBox="1"/>
          <p:nvPr/>
        </p:nvSpPr>
        <p:spPr>
          <a:xfrm>
            <a:off x="5806440" y="2295144"/>
            <a:ext cx="2880360" cy="475488"/>
          </a:xfrm>
          <a:prstGeom prst="rect">
            <a:avLst/>
          </a:prstGeom>
          <a:noFill/>
          <a:ln/>
        </p:spPr>
        <p:txBody>
          <a:bodyPr wrap="square" lIns="0" tIns="0" rIns="0" bIns="0" rtlCol="0" anchor="ctr"/>
          <a:lstStyle/>
          <a:p>
            <a:pPr marL="0" indent="0">
              <a:buNone/>
            </a:pPr>
            <a:r>
              <a:rPr lang="en-US" sz="1250" b="1" dirty="0">
                <a:solidFill>
                  <a:schemeClr val="tx1"/>
                </a:solidFill>
              </a:rPr>
              <a:t>Phong</a:t>
            </a:r>
            <a:endParaRPr lang="en-US" sz="1250" dirty="0"/>
          </a:p>
          <a:p>
            <a:pPr marL="0" indent="0">
              <a:buNone/>
            </a:pPr>
            <a:r>
              <a:rPr lang="en-US" sz="1050" dirty="0">
                <a:solidFill>
                  <a:schemeClr val="tx2"/>
                </a:solidFill>
              </a:rPr>
              <a:t>the normal interpolated, lit once per pixel</a:t>
            </a:r>
            <a:endParaRPr lang="en-US" sz="1250" dirty="0"/>
          </a:p>
        </p:txBody>
      </p:sp>
      <p:sp>
        <p:nvSpPr>
          <p:cNvPr id="15" name="Text 12"/>
          <p:cNvSpPr txBox="1"/>
          <p:nvPr/>
        </p:nvSpPr>
        <p:spPr>
          <a:xfrm>
            <a:off x="5303520" y="3017520"/>
            <a:ext cx="3291840" cy="384048"/>
          </a:xfrm>
          <a:prstGeom prst="rect">
            <a:avLst/>
          </a:prstGeom>
          <a:noFill/>
          <a:ln/>
        </p:spPr>
        <p:txBody>
          <a:bodyPr wrap="square" lIns="0" tIns="0" rIns="0" bIns="0" rtlCol="0" anchor="ctr"/>
          <a:lstStyle/>
          <a:p>
            <a:pPr marL="0" indent="0">
              <a:buNone/>
            </a:pPr>
            <a:r>
              <a:rPr lang="en-US" sz="2200" b="1" dirty="0">
                <a:solidFill>
                  <a:schemeClr val="tx1"/>
                </a:solidFill>
              </a:rPr>
              <a:t>89.7%</a:t>
            </a:r>
            <a:endParaRPr lang="en-US" sz="2200" dirty="0"/>
          </a:p>
        </p:txBody>
      </p:sp>
      <p:sp>
        <p:nvSpPr>
          <p:cNvPr id="16" name="Text 13"/>
          <p:cNvSpPr txBox="1"/>
          <p:nvPr/>
        </p:nvSpPr>
        <p:spPr>
          <a:xfrm>
            <a:off x="5303520" y="3401568"/>
            <a:ext cx="3291840" cy="365760"/>
          </a:xfrm>
          <a:prstGeom prst="rect">
            <a:avLst/>
          </a:prstGeom>
          <a:noFill/>
          <a:ln/>
        </p:spPr>
        <p:txBody>
          <a:bodyPr wrap="square" lIns="0" tIns="0" rIns="0" bIns="0" rtlCol="0" anchor="t"/>
          <a:lstStyle/>
          <a:p>
            <a:pPr marL="0" indent="0">
              <a:buNone/>
            </a:pPr>
            <a:r>
              <a:rPr lang="en-US" sz="1050" dirty="0">
                <a:solidFill>
                  <a:schemeClr val="tx2"/>
                </a:solidFill>
              </a:rPr>
              <a:t>of pixels change when the lighting is switched on</a:t>
            </a:r>
            <a:endParaRPr lang="en-US" sz="1050" dirty="0"/>
          </a:p>
        </p:txBody>
      </p:sp>
      <p:sp>
        <p:nvSpPr>
          <p:cNvPr id="17" name="Text 14"/>
          <p:cNvSpPr txBox="1"/>
          <p:nvPr/>
        </p:nvSpPr>
        <p:spPr>
          <a:xfrm>
            <a:off x="5303520" y="3840480"/>
            <a:ext cx="3291840" cy="384048"/>
          </a:xfrm>
          <a:prstGeom prst="rect">
            <a:avLst/>
          </a:prstGeom>
          <a:noFill/>
          <a:ln/>
        </p:spPr>
        <p:txBody>
          <a:bodyPr wrap="square" lIns="0" tIns="0" rIns="0" bIns="0" rtlCol="0" anchor="ctr"/>
          <a:lstStyle/>
          <a:p>
            <a:pPr marL="0" indent="0">
              <a:buNone/>
            </a:pPr>
            <a:r>
              <a:rPr lang="en-US" sz="2200" b="1" dirty="0">
                <a:solidFill>
                  <a:schemeClr val="accent1"/>
                </a:solidFill>
              </a:rPr>
              <a:t>10.1%</a:t>
            </a:r>
            <a:endParaRPr lang="en-US" sz="2200" dirty="0"/>
          </a:p>
        </p:txBody>
      </p:sp>
      <p:sp>
        <p:nvSpPr>
          <p:cNvPr id="18" name="Text 15"/>
          <p:cNvSpPr txBox="1"/>
          <p:nvPr/>
        </p:nvSpPr>
        <p:spPr>
          <a:xfrm>
            <a:off x="5303520" y="4224528"/>
            <a:ext cx="3291840" cy="365760"/>
          </a:xfrm>
          <a:prstGeom prst="rect">
            <a:avLst/>
          </a:prstGeom>
          <a:noFill/>
          <a:ln/>
        </p:spPr>
        <p:txBody>
          <a:bodyPr wrap="square" lIns="0" tIns="0" rIns="0" bIns="0" rtlCol="0" anchor="t"/>
          <a:lstStyle/>
          <a:p>
            <a:pPr marL="0" indent="0">
              <a:buNone/>
            </a:pPr>
            <a:r>
              <a:rPr lang="en-US" sz="1050" dirty="0">
                <a:solidFill>
                  <a:schemeClr val="tx2"/>
                </a:solidFill>
              </a:rPr>
              <a:t>change from Gouraud to Phong — up to 145 of 255 levels on a highlight</a:t>
            </a:r>
            <a:endParaRPr lang="en-US" sz="1050" dirty="0"/>
          </a:p>
        </p:txBody>
      </p:sp>
      <p:sp>
        <p:nvSpPr>
          <p:cNvPr id="25" name="Slide Number Placeholder 0"/>
          <p:cNvSpPr>
            <a:spLocks noGrp="1"/>
          </p:cNvSpPr>
          <p:nvPr>
            <p:ph type="sldNum" sz="quarter" idx="4294967295"/>
          </p:nvPr>
        </p:nvSpPr>
        <p:spPr>
          <a:xfrm>
            <a:off x="8229600" y="4754880"/>
            <a:ext cx="457200" cy="237744"/>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7F7F7F"/>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8229600" cy="237744"/>
          </a:xfrm>
          <a:prstGeom prst="rect">
            <a:avLst/>
          </a:prstGeom>
          <a:noFill/>
          <a:ln/>
        </p:spPr>
        <p:txBody>
          <a:bodyPr wrap="square" lIns="0" tIns="0" rIns="0" bIns="0" rtlCol="0" anchor="ctr"/>
          <a:lstStyle/>
          <a:p>
            <a:pPr marL="0" indent="0" algn="l">
              <a:buNone/>
            </a:pPr>
            <a:r>
              <a:rPr lang="en-US" sz="1000" b="1" kern="0" spc="100" dirty="0">
                <a:solidFill>
                  <a:schemeClr val="accent1"/>
                </a:solidFill>
              </a:rPr>
              <a:t>COLOUR, MATERIALS AND DEPTH</a:t>
            </a:r>
            <a:endParaRPr lang="en-US" sz="1000" dirty="0"/>
          </a:p>
        </p:txBody>
      </p:sp>
      <p:sp>
        <p:nvSpPr>
          <p:cNvPr id="3" name="Text 1"/>
          <p:cNvSpPr>
            <a:spLocks noGrp="1"/>
          </p:cNvSpPr>
          <p:nvPr>
            <p:ph type="title" idx="102" hasCustomPrompt="1"/>
          </p:nvPr>
        </p:nvSpPr>
        <p:spPr>
          <a:xfrm>
            <a:off x="457200" y="548640"/>
            <a:ext cx="8229600" cy="475488"/>
          </a:xfrm>
          <a:prstGeom prst="rect">
            <a:avLst/>
          </a:prstGeom>
          <a:noFill/>
          <a:ln/>
        </p:spPr>
        <p:txBody>
          <a:bodyPr wrap="square" lIns="0" tIns="0" rIns="0" bIns="0" rtlCol="0" anchor="ctr"/>
          <a:lstStyle/>
          <a:p>
            <a:pPr marL="0" indent="0" algn="l">
              <a:buNone/>
            </a:pPr>
            <a:r>
              <a:rPr lang="en-US" sz="2400" b="1" dirty="0">
                <a:solidFill>
                  <a:schemeClr val="tx1"/>
                </a:solidFill>
              </a:rPr>
              <a:t>Material = colour + gloss</a:t>
            </a:r>
            <a:endParaRPr lang="en-US" sz="2400" dirty="0"/>
          </a:p>
        </p:txBody>
      </p:sp>
      <p:sp>
        <p:nvSpPr>
          <p:cNvPr id="4" name="Grass swatch"/>
          <p:cNvSpPr/>
          <p:nvPr/>
        </p:nvSpPr>
        <p:spPr>
          <a:xfrm>
            <a:off x="457200" y="1188720"/>
            <a:ext cx="502920" cy="502920"/>
          </a:xfrm>
          <a:prstGeom prst="roundRect">
            <a:avLst>
              <a:gd name="adj" fmla="val 9091"/>
            </a:avLst>
          </a:prstGeom>
          <a:solidFill>
            <a:srgbClr val="3D6633"/>
          </a:solidFill>
          <a:ln w="9525">
            <a:solidFill>
              <a:srgbClr val="B8C2CE"/>
            </a:solidFill>
            <a:prstDash val="solid"/>
          </a:ln>
        </p:spPr>
      </p:sp>
      <p:sp>
        <p:nvSpPr>
          <p:cNvPr id="5" name="Text 3"/>
          <p:cNvSpPr txBox="1"/>
          <p:nvPr/>
        </p:nvSpPr>
        <p:spPr>
          <a:xfrm>
            <a:off x="1051560" y="1188720"/>
            <a:ext cx="1417320" cy="502920"/>
          </a:xfrm>
          <a:prstGeom prst="rect">
            <a:avLst/>
          </a:prstGeom>
          <a:noFill/>
          <a:ln/>
        </p:spPr>
        <p:txBody>
          <a:bodyPr wrap="square" lIns="0" tIns="0" rIns="0" bIns="0" rtlCol="0" anchor="ctr"/>
          <a:lstStyle/>
          <a:p>
            <a:pPr marL="0" indent="0">
              <a:buNone/>
            </a:pPr>
            <a:r>
              <a:rPr lang="en-US" sz="1200" b="1" dirty="0">
                <a:solidFill>
                  <a:schemeClr val="tx1"/>
                </a:solidFill>
              </a:rPr>
              <a:t>Grass</a:t>
            </a:r>
            <a:endParaRPr lang="en-US" sz="1200" dirty="0"/>
          </a:p>
          <a:p>
            <a:pPr marL="0" indent="0">
              <a:buNone/>
            </a:pPr>
            <a:r>
              <a:rPr lang="en-US" sz="1000" dirty="0">
                <a:solidFill>
                  <a:schemeClr val="tx2"/>
                </a:solidFill>
              </a:rPr>
              <a:t>gloss 0.10</a:t>
            </a:r>
            <a:endParaRPr lang="en-US" sz="1200" dirty="0"/>
          </a:p>
        </p:txBody>
      </p:sp>
      <p:sp>
        <p:nvSpPr>
          <p:cNvPr id="6" name="Asphalt swatch"/>
          <p:cNvSpPr/>
          <p:nvPr/>
        </p:nvSpPr>
        <p:spPr>
          <a:xfrm>
            <a:off x="2560320" y="1188720"/>
            <a:ext cx="502920" cy="502920"/>
          </a:xfrm>
          <a:prstGeom prst="roundRect">
            <a:avLst>
              <a:gd name="adj" fmla="val 9091"/>
            </a:avLst>
          </a:prstGeom>
          <a:solidFill>
            <a:srgbClr val="33363B"/>
          </a:solidFill>
          <a:ln w="9525">
            <a:solidFill>
              <a:srgbClr val="B8C2CE"/>
            </a:solidFill>
            <a:prstDash val="solid"/>
          </a:ln>
        </p:spPr>
      </p:sp>
      <p:sp>
        <p:nvSpPr>
          <p:cNvPr id="7" name="Text 5"/>
          <p:cNvSpPr txBox="1"/>
          <p:nvPr/>
        </p:nvSpPr>
        <p:spPr>
          <a:xfrm>
            <a:off x="3154680" y="1188720"/>
            <a:ext cx="1417320" cy="502920"/>
          </a:xfrm>
          <a:prstGeom prst="rect">
            <a:avLst/>
          </a:prstGeom>
          <a:noFill/>
          <a:ln/>
        </p:spPr>
        <p:txBody>
          <a:bodyPr wrap="square" lIns="0" tIns="0" rIns="0" bIns="0" rtlCol="0" anchor="ctr"/>
          <a:lstStyle/>
          <a:p>
            <a:pPr marL="0" indent="0">
              <a:buNone/>
            </a:pPr>
            <a:r>
              <a:rPr lang="en-US" sz="1200" b="1" dirty="0">
                <a:solidFill>
                  <a:schemeClr val="tx1"/>
                </a:solidFill>
              </a:rPr>
              <a:t>Asphalt</a:t>
            </a:r>
            <a:endParaRPr lang="en-US" sz="1200" dirty="0"/>
          </a:p>
          <a:p>
            <a:pPr marL="0" indent="0">
              <a:buNone/>
            </a:pPr>
            <a:r>
              <a:rPr lang="en-US" sz="1000" dirty="0">
                <a:solidFill>
                  <a:schemeClr val="tx2"/>
                </a:solidFill>
              </a:rPr>
              <a:t>gloss 0.25</a:t>
            </a:r>
            <a:endParaRPr lang="en-US" sz="1200" dirty="0"/>
          </a:p>
        </p:txBody>
      </p:sp>
      <p:sp>
        <p:nvSpPr>
          <p:cNvPr id="8" name="Concrete swatch"/>
          <p:cNvSpPr/>
          <p:nvPr/>
        </p:nvSpPr>
        <p:spPr>
          <a:xfrm>
            <a:off x="457200" y="1847088"/>
            <a:ext cx="502920" cy="502920"/>
          </a:xfrm>
          <a:prstGeom prst="roundRect">
            <a:avLst>
              <a:gd name="adj" fmla="val 9091"/>
            </a:avLst>
          </a:prstGeom>
          <a:solidFill>
            <a:srgbClr val="9E9E96"/>
          </a:solidFill>
          <a:ln w="9525">
            <a:solidFill>
              <a:srgbClr val="B8C2CE"/>
            </a:solidFill>
            <a:prstDash val="solid"/>
          </a:ln>
        </p:spPr>
      </p:sp>
      <p:sp>
        <p:nvSpPr>
          <p:cNvPr id="9" name="Text 7"/>
          <p:cNvSpPr txBox="1"/>
          <p:nvPr/>
        </p:nvSpPr>
        <p:spPr>
          <a:xfrm>
            <a:off x="1051560" y="1847088"/>
            <a:ext cx="1417320" cy="502920"/>
          </a:xfrm>
          <a:prstGeom prst="rect">
            <a:avLst/>
          </a:prstGeom>
          <a:noFill/>
          <a:ln/>
        </p:spPr>
        <p:txBody>
          <a:bodyPr wrap="square" lIns="0" tIns="0" rIns="0" bIns="0" rtlCol="0" anchor="ctr"/>
          <a:lstStyle/>
          <a:p>
            <a:pPr marL="0" indent="0">
              <a:buNone/>
            </a:pPr>
            <a:r>
              <a:rPr lang="en-US" sz="1200" b="1" dirty="0">
                <a:solidFill>
                  <a:schemeClr val="tx1"/>
                </a:solidFill>
              </a:rPr>
              <a:t>Concrete</a:t>
            </a:r>
            <a:endParaRPr lang="en-US" sz="1200" dirty="0"/>
          </a:p>
          <a:p>
            <a:pPr marL="0" indent="0">
              <a:buNone/>
            </a:pPr>
            <a:r>
              <a:rPr lang="en-US" sz="1000" dirty="0">
                <a:solidFill>
                  <a:schemeClr val="tx2"/>
                </a:solidFill>
              </a:rPr>
              <a:t>gloss 0.30</a:t>
            </a:r>
            <a:endParaRPr lang="en-US" sz="1200" dirty="0"/>
          </a:p>
        </p:txBody>
      </p:sp>
      <p:sp>
        <p:nvSpPr>
          <p:cNvPr id="10" name="Glass swatch"/>
          <p:cNvSpPr/>
          <p:nvPr/>
        </p:nvSpPr>
        <p:spPr>
          <a:xfrm>
            <a:off x="2560320" y="1847088"/>
            <a:ext cx="502920" cy="502920"/>
          </a:xfrm>
          <a:prstGeom prst="roundRect">
            <a:avLst>
              <a:gd name="adj" fmla="val 9091"/>
            </a:avLst>
          </a:prstGeom>
          <a:solidFill>
            <a:srgbClr val="214559"/>
          </a:solidFill>
          <a:ln w="9525">
            <a:solidFill>
              <a:srgbClr val="B8C2CE"/>
            </a:solidFill>
            <a:prstDash val="solid"/>
          </a:ln>
        </p:spPr>
      </p:sp>
      <p:sp>
        <p:nvSpPr>
          <p:cNvPr id="11" name="Text 9"/>
          <p:cNvSpPr txBox="1"/>
          <p:nvPr/>
        </p:nvSpPr>
        <p:spPr>
          <a:xfrm>
            <a:off x="3154680" y="1847088"/>
            <a:ext cx="1417320" cy="502920"/>
          </a:xfrm>
          <a:prstGeom prst="rect">
            <a:avLst/>
          </a:prstGeom>
          <a:noFill/>
          <a:ln/>
        </p:spPr>
        <p:txBody>
          <a:bodyPr wrap="square" lIns="0" tIns="0" rIns="0" bIns="0" rtlCol="0" anchor="ctr"/>
          <a:lstStyle/>
          <a:p>
            <a:pPr marL="0" indent="0">
              <a:buNone/>
            </a:pPr>
            <a:r>
              <a:rPr lang="en-US" sz="1200" b="1" dirty="0">
                <a:solidFill>
                  <a:schemeClr val="tx1"/>
                </a:solidFill>
              </a:rPr>
              <a:t>Glass</a:t>
            </a:r>
            <a:endParaRPr lang="en-US" sz="1200" dirty="0"/>
          </a:p>
          <a:p>
            <a:pPr marL="0" indent="0">
              <a:buNone/>
            </a:pPr>
            <a:r>
              <a:rPr lang="en-US" sz="1000" dirty="0">
                <a:solidFill>
                  <a:schemeClr val="tx2"/>
                </a:solidFill>
              </a:rPr>
              <a:t>gloss 2.20</a:t>
            </a:r>
            <a:endParaRPr lang="en-US" sz="1200" dirty="0"/>
          </a:p>
        </p:txBody>
      </p:sp>
      <p:sp>
        <p:nvSpPr>
          <p:cNvPr id="12" name="Airliner swatch"/>
          <p:cNvSpPr/>
          <p:nvPr/>
        </p:nvSpPr>
        <p:spPr>
          <a:xfrm>
            <a:off x="457200" y="2505456"/>
            <a:ext cx="502920" cy="502920"/>
          </a:xfrm>
          <a:prstGeom prst="roundRect">
            <a:avLst>
              <a:gd name="adj" fmla="val 9091"/>
            </a:avLst>
          </a:prstGeom>
          <a:solidFill>
            <a:srgbClr val="EDF0F5"/>
          </a:solidFill>
          <a:ln w="9525">
            <a:solidFill>
              <a:srgbClr val="B8C2CE"/>
            </a:solidFill>
            <a:prstDash val="solid"/>
          </a:ln>
        </p:spPr>
      </p:sp>
      <p:sp>
        <p:nvSpPr>
          <p:cNvPr id="13" name="Text 11"/>
          <p:cNvSpPr txBox="1"/>
          <p:nvPr/>
        </p:nvSpPr>
        <p:spPr>
          <a:xfrm>
            <a:off x="1051560" y="2505456"/>
            <a:ext cx="1417320" cy="502920"/>
          </a:xfrm>
          <a:prstGeom prst="rect">
            <a:avLst/>
          </a:prstGeom>
          <a:noFill/>
          <a:ln/>
        </p:spPr>
        <p:txBody>
          <a:bodyPr wrap="square" lIns="0" tIns="0" rIns="0" bIns="0" rtlCol="0" anchor="ctr"/>
          <a:lstStyle/>
          <a:p>
            <a:pPr marL="0" indent="0">
              <a:buNone/>
            </a:pPr>
            <a:r>
              <a:rPr lang="en-US" sz="1200" b="1" dirty="0">
                <a:solidFill>
                  <a:schemeClr val="tx1"/>
                </a:solidFill>
              </a:rPr>
              <a:t>Airliner</a:t>
            </a:r>
            <a:endParaRPr lang="en-US" sz="1200" dirty="0"/>
          </a:p>
          <a:p>
            <a:pPr marL="0" indent="0">
              <a:buNone/>
            </a:pPr>
            <a:r>
              <a:rPr lang="en-US" sz="1000" dirty="0">
                <a:solidFill>
                  <a:schemeClr val="tx2"/>
                </a:solidFill>
              </a:rPr>
              <a:t>gloss 2.40</a:t>
            </a:r>
            <a:endParaRPr lang="en-US" sz="1200" dirty="0"/>
          </a:p>
        </p:txBody>
      </p:sp>
      <p:sp>
        <p:nvSpPr>
          <p:cNvPr id="14" name="Helicopter swatch"/>
          <p:cNvSpPr/>
          <p:nvPr/>
        </p:nvSpPr>
        <p:spPr>
          <a:xfrm>
            <a:off x="2560320" y="2505456"/>
            <a:ext cx="502920" cy="502920"/>
          </a:xfrm>
          <a:prstGeom prst="roundRect">
            <a:avLst>
              <a:gd name="adj" fmla="val 9091"/>
            </a:avLst>
          </a:prstGeom>
          <a:solidFill>
            <a:srgbClr val="BD291F"/>
          </a:solidFill>
          <a:ln w="9525">
            <a:solidFill>
              <a:srgbClr val="B8C2CE"/>
            </a:solidFill>
            <a:prstDash val="solid"/>
          </a:ln>
        </p:spPr>
      </p:sp>
      <p:sp>
        <p:nvSpPr>
          <p:cNvPr id="15" name="Text 13"/>
          <p:cNvSpPr txBox="1"/>
          <p:nvPr/>
        </p:nvSpPr>
        <p:spPr>
          <a:xfrm>
            <a:off x="3154680" y="2505456"/>
            <a:ext cx="1417320" cy="502920"/>
          </a:xfrm>
          <a:prstGeom prst="rect">
            <a:avLst/>
          </a:prstGeom>
          <a:noFill/>
          <a:ln/>
        </p:spPr>
        <p:txBody>
          <a:bodyPr wrap="square" lIns="0" tIns="0" rIns="0" bIns="0" rtlCol="0" anchor="ctr"/>
          <a:lstStyle/>
          <a:p>
            <a:pPr marL="0" indent="0">
              <a:buNone/>
            </a:pPr>
            <a:r>
              <a:rPr lang="en-US" sz="1200" b="1" dirty="0">
                <a:solidFill>
                  <a:schemeClr val="tx1"/>
                </a:solidFill>
              </a:rPr>
              <a:t>Helicopter</a:t>
            </a:r>
            <a:endParaRPr lang="en-US" sz="1200" dirty="0"/>
          </a:p>
          <a:p>
            <a:pPr marL="0" indent="0">
              <a:buNone/>
            </a:pPr>
            <a:r>
              <a:rPr lang="en-US" sz="1000" dirty="0">
                <a:solidFill>
                  <a:schemeClr val="tx2"/>
                </a:solidFill>
              </a:rPr>
              <a:t>gloss 2.20</a:t>
            </a:r>
            <a:endParaRPr lang="en-US" sz="1200" dirty="0"/>
          </a:p>
        </p:txBody>
      </p:sp>
      <p:sp>
        <p:nvSpPr>
          <p:cNvPr id="16" name="Text 14"/>
          <p:cNvSpPr txBox="1"/>
          <p:nvPr/>
        </p:nvSpPr>
        <p:spPr>
          <a:xfrm>
            <a:off x="457200" y="3246120"/>
            <a:ext cx="4023360" cy="640080"/>
          </a:xfrm>
          <a:prstGeom prst="rect">
            <a:avLst/>
          </a:prstGeom>
          <a:noFill/>
          <a:ln/>
        </p:spPr>
        <p:txBody>
          <a:bodyPr wrap="square" lIns="0" tIns="0" rIns="0" bIns="0" rtlCol="0" anchor="t"/>
          <a:lstStyle/>
          <a:p>
            <a:pPr marL="0" indent="0">
              <a:buNone/>
            </a:pPr>
            <a:r>
              <a:rPr lang="en-US" sz="1150" dirty="0">
                <a:solidFill>
                  <a:schemeClr val="tx2"/>
                </a:solidFill>
              </a:rPr>
              <a:t>Gloss scales the highlight: matte grass shows no glare, a polished fuselage shines. Flames and smoke are drawn unlit.</a:t>
            </a:r>
            <a:endParaRPr lang="en-US" sz="1150" dirty="0"/>
          </a:p>
        </p:txBody>
      </p:sp>
      <p:sp>
        <p:nvSpPr>
          <p:cNvPr id="17" name="Text 15"/>
          <p:cNvSpPr txBox="1"/>
          <p:nvPr/>
        </p:nvSpPr>
        <p:spPr>
          <a:xfrm>
            <a:off x="4846320" y="1170432"/>
            <a:ext cx="3840480" cy="274320"/>
          </a:xfrm>
          <a:prstGeom prst="rect">
            <a:avLst/>
          </a:prstGeom>
          <a:noFill/>
          <a:ln/>
        </p:spPr>
        <p:txBody>
          <a:bodyPr wrap="square" lIns="0" tIns="0" rIns="0" bIns="0" rtlCol="0" anchor="ctr"/>
          <a:lstStyle/>
          <a:p>
            <a:pPr marL="0" indent="0">
              <a:buNone/>
            </a:pPr>
            <a:r>
              <a:rPr lang="en-US" sz="1400" b="1" dirty="0">
                <a:solidFill>
                  <a:schemeClr val="tx1"/>
                </a:solidFill>
              </a:rPr>
              <a:t>Depth precision</a:t>
            </a:r>
            <a:endParaRPr lang="en-US" sz="1400" dirty="0"/>
          </a:p>
        </p:txBody>
      </p:sp>
      <p:sp>
        <p:nvSpPr>
          <p:cNvPr id="18" name="Formula"/>
          <p:cNvSpPr/>
          <p:nvPr/>
        </p:nvSpPr>
        <p:spPr>
          <a:xfrm>
            <a:off x="4846320" y="1481328"/>
            <a:ext cx="3840480" cy="438912"/>
          </a:xfrm>
          <a:prstGeom prst="roundRect">
            <a:avLst>
              <a:gd name="adj" fmla="val 12500"/>
            </a:avLst>
          </a:prstGeom>
          <a:solidFill>
            <a:schemeClr val="tx1"/>
          </a:solidFill>
          <a:ln w="12700">
            <a:solidFill>
              <a:schemeClr val="tx1"/>
            </a:solidFill>
            <a:prstDash val="solid"/>
          </a:ln>
        </p:spPr>
      </p:sp>
      <p:sp>
        <p:nvSpPr>
          <p:cNvPr id="19" name="Text 17"/>
          <p:cNvSpPr txBox="1"/>
          <p:nvPr/>
        </p:nvSpPr>
        <p:spPr>
          <a:xfrm>
            <a:off x="4846320" y="1481328"/>
            <a:ext cx="3840480" cy="438912"/>
          </a:xfrm>
          <a:prstGeom prst="rect">
            <a:avLst/>
          </a:prstGeom>
          <a:noFill/>
          <a:ln/>
        </p:spPr>
        <p:txBody>
          <a:bodyPr wrap="square" lIns="0" tIns="0" rIns="0" bIns="0" rtlCol="0" anchor="ctr"/>
          <a:lstStyle/>
          <a:p>
            <a:pPr marL="0" indent="0" algn="ctr">
              <a:buNone/>
            </a:pPr>
            <a:r>
              <a:rPr lang="en-US" sz="1400" b="1" dirty="0">
                <a:solidFill>
                  <a:schemeClr val="bg1"/>
                </a:solidFill>
                <a:latin typeface="Cambria" pitchFamily="34" charset="0"/>
                <a:ea typeface="Cambria" pitchFamily="34" charset="-122"/>
                <a:cs typeface="Cambria" pitchFamily="34" charset="-120"/>
              </a:rPr>
              <a:t>Δz ≈ z² / ( near · 2</a:t>
            </a:r>
            <a:r>
              <a:rPr lang="en-US" sz="1400" b="1" baseline="30000" dirty="0">
                <a:solidFill>
                  <a:schemeClr val="bg1"/>
                </a:solidFill>
                <a:latin typeface="Cambria" pitchFamily="34" charset="0"/>
                <a:ea typeface="Cambria" pitchFamily="34" charset="-122"/>
                <a:cs typeface="Cambria" pitchFamily="34" charset="-120"/>
              </a:rPr>
              <a:t>24</a:t>
            </a:r>
            <a:r>
              <a:rPr lang="en-US" sz="1400" b="1" dirty="0">
                <a:solidFill>
                  <a:schemeClr val="bg1"/>
                </a:solidFill>
                <a:latin typeface="Cambria" pitchFamily="34" charset="0"/>
                <a:ea typeface="Cambria" pitchFamily="34" charset="-122"/>
                <a:cs typeface="Cambria" pitchFamily="34" charset="-120"/>
              </a:rPr>
              <a:t> )</a:t>
            </a:r>
            <a:endParaRPr lang="en-US" sz="1400" dirty="0"/>
          </a:p>
        </p:txBody>
      </p:sp>
      <p:pic>
        <p:nvPicPr>
          <p:cNvPr id="20" name="Depth precision before and after" descr="Depth precision before and after"/>
          <p:cNvPicPr>
            <a:picLocks noChangeAspect="1"/>
          </p:cNvPicPr>
          <p:nvPr/>
        </p:nvPicPr>
        <p:blipFill>
          <a:blip r:embed="rId3"/>
          <a:stretch>
            <a:fillRect/>
          </a:stretch>
        </p:blipFill>
        <p:spPr>
          <a:xfrm>
            <a:off x="4846320" y="2057400"/>
            <a:ext cx="3840480" cy="1078992"/>
          </a:xfrm>
          <a:prstGeom prst="rect">
            <a:avLst/>
          </a:prstGeom>
        </p:spPr>
      </p:pic>
      <p:sp>
        <p:nvSpPr>
          <p:cNvPr id="21" name="Text 18"/>
          <p:cNvSpPr txBox="1"/>
          <p:nvPr/>
        </p:nvSpPr>
        <p:spPr>
          <a:xfrm>
            <a:off x="4846320" y="3200400"/>
            <a:ext cx="3840480" cy="777240"/>
          </a:xfrm>
          <a:prstGeom prst="rect">
            <a:avLst/>
          </a:prstGeom>
          <a:noFill/>
          <a:ln/>
        </p:spPr>
        <p:txBody>
          <a:bodyPr wrap="square" lIns="0" tIns="0" rIns="0" bIns="0" rtlCol="0" anchor="t"/>
          <a:lstStyle/>
          <a:p>
            <a:pPr marL="0" indent="0">
              <a:buNone/>
            </a:pPr>
            <a:r>
              <a:rPr lang="en-US" sz="1100" dirty="0">
                <a:solidFill>
                  <a:schemeClr val="tx2"/>
                </a:solidFill>
              </a:rPr>
              <a:t>At 1,646 units up with near 0.5, Δz ≈ 0.34 — more than the 0.1-thick ground, so its two faces fought in stripes. Fixed with a 60-unit slab and near plane 1.0.</a:t>
            </a:r>
            <a:endParaRPr lang="en-US" sz="1100" dirty="0"/>
          </a:p>
        </p:txBody>
      </p:sp>
      <p:sp>
        <p:nvSpPr>
          <p:cNvPr id="25" name="Slide Number Placeholder 0"/>
          <p:cNvSpPr>
            <a:spLocks noGrp="1"/>
          </p:cNvSpPr>
          <p:nvPr>
            <p:ph type="sldNum" sz="quarter" idx="4294967295"/>
          </p:nvPr>
        </p:nvSpPr>
        <p:spPr>
          <a:xfrm>
            <a:off x="8229600" y="4754880"/>
            <a:ext cx="457200" cy="237744"/>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7F7F7F"/>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8229600" cy="237744"/>
          </a:xfrm>
          <a:prstGeom prst="rect">
            <a:avLst/>
          </a:prstGeom>
          <a:noFill/>
          <a:ln/>
        </p:spPr>
        <p:txBody>
          <a:bodyPr wrap="square" lIns="0" tIns="0" rIns="0" bIns="0" rtlCol="0" anchor="ctr"/>
          <a:lstStyle/>
          <a:p>
            <a:pPr marL="0" indent="0" algn="l">
              <a:buNone/>
            </a:pPr>
            <a:r>
              <a:rPr lang="en-US" sz="1000" b="1" kern="0" spc="100" dirty="0">
                <a:solidFill>
                  <a:schemeClr val="accent1"/>
                </a:solidFill>
              </a:rPr>
              <a:t>SIMULATION AND MANUAL FLIGHT</a:t>
            </a:r>
            <a:endParaRPr lang="en-US" sz="1000" dirty="0"/>
          </a:p>
        </p:txBody>
      </p:sp>
      <p:sp>
        <p:nvSpPr>
          <p:cNvPr id="3" name="Text 1"/>
          <p:cNvSpPr>
            <a:spLocks noGrp="1"/>
          </p:cNvSpPr>
          <p:nvPr>
            <p:ph type="title" idx="102" hasCustomPrompt="1"/>
          </p:nvPr>
        </p:nvSpPr>
        <p:spPr>
          <a:xfrm>
            <a:off x="457200" y="548640"/>
            <a:ext cx="8229600" cy="475488"/>
          </a:xfrm>
          <a:prstGeom prst="rect">
            <a:avLst/>
          </a:prstGeom>
          <a:noFill/>
          <a:ln/>
        </p:spPr>
        <p:txBody>
          <a:bodyPr wrap="square" lIns="0" tIns="0" rIns="0" bIns="0" rtlCol="0" anchor="ctr"/>
          <a:lstStyle/>
          <a:p>
            <a:pPr marL="0" indent="0" algn="l">
              <a:buNone/>
            </a:pPr>
            <a:r>
              <a:rPr lang="en-US" sz="2400" b="1" dirty="0">
                <a:solidFill>
                  <a:schemeClr val="tx1"/>
                </a:solidFill>
              </a:rPr>
              <a:t>State machines, and the airliner flown by hand</a:t>
            </a:r>
            <a:endParaRPr lang="en-US" sz="2400" dirty="0"/>
          </a:p>
        </p:txBody>
      </p:sp>
      <p:sp>
        <p:nvSpPr>
          <p:cNvPr id="4" name="Text 2"/>
          <p:cNvSpPr txBox="1"/>
          <p:nvPr/>
        </p:nvSpPr>
        <p:spPr>
          <a:xfrm>
            <a:off x="457200" y="1170432"/>
            <a:ext cx="5120640" cy="914400"/>
          </a:xfrm>
          <a:prstGeom prst="rect">
            <a:avLst/>
          </a:prstGeom>
          <a:noFill/>
          <a:ln/>
        </p:spPr>
        <p:txBody>
          <a:bodyPr wrap="square" lIns="0" tIns="0" rIns="0" bIns="0" rtlCol="0" anchor="t"/>
          <a:lstStyle/>
          <a:p>
            <a:pPr marL="0" indent="0">
              <a:spcAft>
                <a:spcPts val="700"/>
              </a:spcAft>
              <a:buNone/>
            </a:pPr>
            <a:r>
              <a:rPr lang="en-US" sz="1250" b="1" dirty="0">
                <a:solidFill>
                  <a:schemeClr val="tx1"/>
                </a:solidFill>
              </a:rPr>
              <a:t>Three state machines</a:t>
            </a:r>
            <a:r>
              <a:rPr lang="en-US" sz="1250" dirty="0">
                <a:solidFill>
                  <a:schemeClr val="tx2"/>
                </a:solidFill>
              </a:rPr>
              <a:t> taxi, take-off, hold, approach and landing; the rocket's two separations and powered landing.</a:t>
            </a:r>
            <a:endParaRPr lang="en-US" sz="1250" dirty="0"/>
          </a:p>
          <a:p>
            <a:pPr marL="0" indent="0">
              <a:spcAft>
                <a:spcPts val="700"/>
              </a:spcAft>
              <a:buNone/>
            </a:pPr>
            <a:r>
              <a:rPr lang="en-US" sz="1250" b="1" dirty="0">
                <a:solidFill>
                  <a:schemeClr val="tx1"/>
                </a:solidFill>
              </a:rPr>
              <a:t>Manual flight (key M)</a:t>
            </a:r>
            <a:r>
              <a:rPr lang="en-US" sz="1250" dirty="0">
                <a:solidFill>
                  <a:schemeClr val="tx2"/>
                </a:solidFill>
              </a:rPr>
              <a:t> the user takes over: thrust minus drag minus gravity sets the speed, the bank sets the turn.</a:t>
            </a:r>
            <a:endParaRPr lang="en-US" sz="1250" dirty="0"/>
          </a:p>
        </p:txBody>
      </p:sp>
      <p:sp>
        <p:nvSpPr>
          <p:cNvPr id="5" name="Formula"/>
          <p:cNvSpPr/>
          <p:nvPr/>
        </p:nvSpPr>
        <p:spPr>
          <a:xfrm>
            <a:off x="457200" y="2286000"/>
            <a:ext cx="5120640" cy="438912"/>
          </a:xfrm>
          <a:prstGeom prst="roundRect">
            <a:avLst>
              <a:gd name="adj" fmla="val 12500"/>
            </a:avLst>
          </a:prstGeom>
          <a:solidFill>
            <a:schemeClr val="tx1"/>
          </a:solidFill>
          <a:ln w="12700">
            <a:solidFill>
              <a:schemeClr val="tx1"/>
            </a:solidFill>
            <a:prstDash val="solid"/>
          </a:ln>
        </p:spPr>
      </p:sp>
      <p:sp>
        <p:nvSpPr>
          <p:cNvPr id="6" name="Text 4"/>
          <p:cNvSpPr txBox="1"/>
          <p:nvPr/>
        </p:nvSpPr>
        <p:spPr>
          <a:xfrm>
            <a:off x="457200" y="2286000"/>
            <a:ext cx="5120640" cy="438912"/>
          </a:xfrm>
          <a:prstGeom prst="rect">
            <a:avLst/>
          </a:prstGeom>
          <a:noFill/>
          <a:ln/>
        </p:spPr>
        <p:txBody>
          <a:bodyPr wrap="square" lIns="0" tIns="0" rIns="0" bIns="0" rtlCol="0" anchor="ctr"/>
          <a:lstStyle/>
          <a:p>
            <a:pPr marL="0" indent="0" algn="ctr">
              <a:buNone/>
            </a:pPr>
            <a:r>
              <a:rPr lang="en-US" sz="1400" b="1" dirty="0">
                <a:solidFill>
                  <a:schemeClr val="bg1"/>
                </a:solidFill>
                <a:latin typeface="Cambria" pitchFamily="34" charset="0"/>
                <a:ea typeface="Cambria" pitchFamily="34" charset="-122"/>
                <a:cs typeface="Cambria" pitchFamily="34" charset="-120"/>
              </a:rPr>
              <a:t>dv/dt = 7u − 0.005 v² − 9.8 sin γ</a:t>
            </a:r>
            <a:endParaRPr lang="en-US" sz="1400" dirty="0"/>
          </a:p>
        </p:txBody>
      </p:sp>
      <p:sp>
        <p:nvSpPr>
          <p:cNvPr id="7" name="Key I / K"/>
          <p:cNvSpPr/>
          <p:nvPr/>
        </p:nvSpPr>
        <p:spPr>
          <a:xfrm>
            <a:off x="5852160" y="1188720"/>
            <a:ext cx="777240" cy="365760"/>
          </a:xfrm>
          <a:prstGeom prst="roundRect">
            <a:avLst>
              <a:gd name="adj" fmla="val 12500"/>
            </a:avLst>
          </a:prstGeom>
          <a:solidFill>
            <a:schemeClr val="bg2"/>
          </a:solidFill>
          <a:ln w="12700">
            <a:solidFill>
              <a:schemeClr val="tx1"/>
            </a:solidFill>
            <a:prstDash val="solid"/>
          </a:ln>
        </p:spPr>
      </p:sp>
      <p:sp>
        <p:nvSpPr>
          <p:cNvPr id="8" name="Text 6"/>
          <p:cNvSpPr txBox="1"/>
          <p:nvPr/>
        </p:nvSpPr>
        <p:spPr>
          <a:xfrm>
            <a:off x="5852160" y="1188720"/>
            <a:ext cx="777240" cy="365760"/>
          </a:xfrm>
          <a:prstGeom prst="rect">
            <a:avLst/>
          </a:prstGeom>
          <a:noFill/>
          <a:ln/>
        </p:spPr>
        <p:txBody>
          <a:bodyPr wrap="square" lIns="0" tIns="0" rIns="0" bIns="0" rtlCol="0" anchor="ctr"/>
          <a:lstStyle/>
          <a:p>
            <a:pPr marL="0" indent="0" algn="ctr">
              <a:buNone/>
            </a:pPr>
            <a:r>
              <a:rPr lang="en-US" sz="1150" b="1" dirty="0">
                <a:solidFill>
                  <a:schemeClr val="tx1"/>
                </a:solidFill>
              </a:rPr>
              <a:t>I / K</a:t>
            </a:r>
            <a:endParaRPr lang="en-US" sz="1150" dirty="0"/>
          </a:p>
        </p:txBody>
      </p:sp>
      <p:sp>
        <p:nvSpPr>
          <p:cNvPr id="9" name="Text 7"/>
          <p:cNvSpPr txBox="1"/>
          <p:nvPr/>
        </p:nvSpPr>
        <p:spPr>
          <a:xfrm>
            <a:off x="6766560" y="1188720"/>
            <a:ext cx="1920240" cy="365760"/>
          </a:xfrm>
          <a:prstGeom prst="rect">
            <a:avLst/>
          </a:prstGeom>
          <a:noFill/>
          <a:ln/>
        </p:spPr>
        <p:txBody>
          <a:bodyPr wrap="square" lIns="0" tIns="0" rIns="0" bIns="0" rtlCol="0" anchor="ctr"/>
          <a:lstStyle/>
          <a:p>
            <a:pPr marL="0" indent="0">
              <a:buNone/>
            </a:pPr>
            <a:r>
              <a:rPr lang="en-US" sz="1150" dirty="0">
                <a:solidFill>
                  <a:schemeClr val="tx2"/>
                </a:solidFill>
              </a:rPr>
              <a:t>throttle</a:t>
            </a:r>
            <a:endParaRPr lang="en-US" sz="1150" dirty="0"/>
          </a:p>
        </p:txBody>
      </p:sp>
      <p:sp>
        <p:nvSpPr>
          <p:cNvPr id="10" name="Key 8 / 5"/>
          <p:cNvSpPr/>
          <p:nvPr/>
        </p:nvSpPr>
        <p:spPr>
          <a:xfrm>
            <a:off x="5852160" y="1664208"/>
            <a:ext cx="777240" cy="365760"/>
          </a:xfrm>
          <a:prstGeom prst="roundRect">
            <a:avLst>
              <a:gd name="adj" fmla="val 12500"/>
            </a:avLst>
          </a:prstGeom>
          <a:solidFill>
            <a:schemeClr val="bg2"/>
          </a:solidFill>
          <a:ln w="12700">
            <a:solidFill>
              <a:schemeClr val="tx1"/>
            </a:solidFill>
            <a:prstDash val="solid"/>
          </a:ln>
        </p:spPr>
      </p:sp>
      <p:sp>
        <p:nvSpPr>
          <p:cNvPr id="11" name="Text 9"/>
          <p:cNvSpPr txBox="1"/>
          <p:nvPr/>
        </p:nvSpPr>
        <p:spPr>
          <a:xfrm>
            <a:off x="5852160" y="1664208"/>
            <a:ext cx="777240" cy="365760"/>
          </a:xfrm>
          <a:prstGeom prst="rect">
            <a:avLst/>
          </a:prstGeom>
          <a:noFill/>
          <a:ln/>
        </p:spPr>
        <p:txBody>
          <a:bodyPr wrap="square" lIns="0" tIns="0" rIns="0" bIns="0" rtlCol="0" anchor="ctr"/>
          <a:lstStyle/>
          <a:p>
            <a:pPr marL="0" indent="0" algn="ctr">
              <a:buNone/>
            </a:pPr>
            <a:r>
              <a:rPr lang="en-US" sz="1150" b="1" dirty="0">
                <a:solidFill>
                  <a:schemeClr val="tx1"/>
                </a:solidFill>
              </a:rPr>
              <a:t>8 / 5</a:t>
            </a:r>
            <a:endParaRPr lang="en-US" sz="1150" dirty="0"/>
          </a:p>
        </p:txBody>
      </p:sp>
      <p:sp>
        <p:nvSpPr>
          <p:cNvPr id="12" name="Text 10"/>
          <p:cNvSpPr txBox="1"/>
          <p:nvPr/>
        </p:nvSpPr>
        <p:spPr>
          <a:xfrm>
            <a:off x="6766560" y="1664208"/>
            <a:ext cx="1920240" cy="365760"/>
          </a:xfrm>
          <a:prstGeom prst="rect">
            <a:avLst/>
          </a:prstGeom>
          <a:noFill/>
          <a:ln/>
        </p:spPr>
        <p:txBody>
          <a:bodyPr wrap="square" lIns="0" tIns="0" rIns="0" bIns="0" rtlCol="0" anchor="ctr"/>
          <a:lstStyle/>
          <a:p>
            <a:pPr marL="0" indent="0">
              <a:buNone/>
            </a:pPr>
            <a:r>
              <a:rPr lang="en-US" sz="1150" dirty="0">
                <a:solidFill>
                  <a:schemeClr val="tx2"/>
                </a:solidFill>
              </a:rPr>
              <a:t>climb / descend</a:t>
            </a:r>
            <a:endParaRPr lang="en-US" sz="1150" dirty="0"/>
          </a:p>
        </p:txBody>
      </p:sp>
      <p:sp>
        <p:nvSpPr>
          <p:cNvPr id="13" name="Key 4 / 6"/>
          <p:cNvSpPr/>
          <p:nvPr/>
        </p:nvSpPr>
        <p:spPr>
          <a:xfrm>
            <a:off x="5852160" y="2139696"/>
            <a:ext cx="777240" cy="365760"/>
          </a:xfrm>
          <a:prstGeom prst="roundRect">
            <a:avLst>
              <a:gd name="adj" fmla="val 12500"/>
            </a:avLst>
          </a:prstGeom>
          <a:solidFill>
            <a:schemeClr val="bg2"/>
          </a:solidFill>
          <a:ln w="12700">
            <a:solidFill>
              <a:schemeClr val="tx1"/>
            </a:solidFill>
            <a:prstDash val="solid"/>
          </a:ln>
        </p:spPr>
      </p:sp>
      <p:sp>
        <p:nvSpPr>
          <p:cNvPr id="14" name="Text 12"/>
          <p:cNvSpPr txBox="1"/>
          <p:nvPr/>
        </p:nvSpPr>
        <p:spPr>
          <a:xfrm>
            <a:off x="5852160" y="2139696"/>
            <a:ext cx="777240" cy="365760"/>
          </a:xfrm>
          <a:prstGeom prst="rect">
            <a:avLst/>
          </a:prstGeom>
          <a:noFill/>
          <a:ln/>
        </p:spPr>
        <p:txBody>
          <a:bodyPr wrap="square" lIns="0" tIns="0" rIns="0" bIns="0" rtlCol="0" anchor="ctr"/>
          <a:lstStyle/>
          <a:p>
            <a:pPr marL="0" indent="0" algn="ctr">
              <a:buNone/>
            </a:pPr>
            <a:r>
              <a:rPr lang="en-US" sz="1150" b="1" dirty="0">
                <a:solidFill>
                  <a:schemeClr val="tx1"/>
                </a:solidFill>
              </a:rPr>
              <a:t>4 / 6</a:t>
            </a:r>
            <a:endParaRPr lang="en-US" sz="1150" dirty="0"/>
          </a:p>
        </p:txBody>
      </p:sp>
      <p:sp>
        <p:nvSpPr>
          <p:cNvPr id="15" name="Text 13"/>
          <p:cNvSpPr txBox="1"/>
          <p:nvPr/>
        </p:nvSpPr>
        <p:spPr>
          <a:xfrm>
            <a:off x="6766560" y="2139696"/>
            <a:ext cx="1920240" cy="365760"/>
          </a:xfrm>
          <a:prstGeom prst="rect">
            <a:avLst/>
          </a:prstGeom>
          <a:noFill/>
          <a:ln/>
        </p:spPr>
        <p:txBody>
          <a:bodyPr wrap="square" lIns="0" tIns="0" rIns="0" bIns="0" rtlCol="0" anchor="ctr"/>
          <a:lstStyle/>
          <a:p>
            <a:pPr marL="0" indent="0">
              <a:buNone/>
            </a:pPr>
            <a:r>
              <a:rPr lang="en-US" sz="1150" dirty="0">
                <a:solidFill>
                  <a:schemeClr val="tx2"/>
                </a:solidFill>
              </a:rPr>
              <a:t>bank</a:t>
            </a:r>
            <a:endParaRPr lang="en-US" sz="1150" dirty="0"/>
          </a:p>
        </p:txBody>
      </p:sp>
      <p:sp>
        <p:nvSpPr>
          <p:cNvPr id="16" name="Key U / X"/>
          <p:cNvSpPr/>
          <p:nvPr/>
        </p:nvSpPr>
        <p:spPr>
          <a:xfrm>
            <a:off x="5852160" y="2615184"/>
            <a:ext cx="777240" cy="365760"/>
          </a:xfrm>
          <a:prstGeom prst="roundRect">
            <a:avLst>
              <a:gd name="adj" fmla="val 12500"/>
            </a:avLst>
          </a:prstGeom>
          <a:solidFill>
            <a:schemeClr val="bg2"/>
          </a:solidFill>
          <a:ln w="12700">
            <a:solidFill>
              <a:schemeClr val="tx1"/>
            </a:solidFill>
            <a:prstDash val="solid"/>
          </a:ln>
        </p:spPr>
      </p:sp>
      <p:sp>
        <p:nvSpPr>
          <p:cNvPr id="17" name="Text 15"/>
          <p:cNvSpPr txBox="1"/>
          <p:nvPr/>
        </p:nvSpPr>
        <p:spPr>
          <a:xfrm>
            <a:off x="5852160" y="2615184"/>
            <a:ext cx="777240" cy="365760"/>
          </a:xfrm>
          <a:prstGeom prst="rect">
            <a:avLst/>
          </a:prstGeom>
          <a:noFill/>
          <a:ln/>
        </p:spPr>
        <p:txBody>
          <a:bodyPr wrap="square" lIns="0" tIns="0" rIns="0" bIns="0" rtlCol="0" anchor="ctr"/>
          <a:lstStyle/>
          <a:p>
            <a:pPr marL="0" indent="0" algn="ctr">
              <a:buNone/>
            </a:pPr>
            <a:r>
              <a:rPr lang="en-US" sz="1150" b="1" dirty="0">
                <a:solidFill>
                  <a:schemeClr val="tx1"/>
                </a:solidFill>
              </a:rPr>
              <a:t>U / X</a:t>
            </a:r>
            <a:endParaRPr lang="en-US" sz="1150" dirty="0"/>
          </a:p>
        </p:txBody>
      </p:sp>
      <p:sp>
        <p:nvSpPr>
          <p:cNvPr id="18" name="Text 16"/>
          <p:cNvSpPr txBox="1"/>
          <p:nvPr/>
        </p:nvSpPr>
        <p:spPr>
          <a:xfrm>
            <a:off x="6766560" y="2615184"/>
            <a:ext cx="1920240" cy="365760"/>
          </a:xfrm>
          <a:prstGeom prst="rect">
            <a:avLst/>
          </a:prstGeom>
          <a:noFill/>
          <a:ln/>
        </p:spPr>
        <p:txBody>
          <a:bodyPr wrap="square" lIns="0" tIns="0" rIns="0" bIns="0" rtlCol="0" anchor="ctr"/>
          <a:lstStyle/>
          <a:p>
            <a:pPr marL="0" indent="0">
              <a:buNone/>
            </a:pPr>
            <a:r>
              <a:rPr lang="en-US" sz="1150" dirty="0">
                <a:solidFill>
                  <a:schemeClr val="tx2"/>
                </a:solidFill>
              </a:rPr>
              <a:t>gear / brakes</a:t>
            </a:r>
            <a:endParaRPr lang="en-US" sz="1150" dirty="0"/>
          </a:p>
        </p:txBody>
      </p:sp>
      <p:sp>
        <p:nvSpPr>
          <p:cNvPr id="19" name="Text 17"/>
          <p:cNvSpPr txBox="1"/>
          <p:nvPr/>
        </p:nvSpPr>
        <p:spPr>
          <a:xfrm>
            <a:off x="5852160" y="3127248"/>
            <a:ext cx="2834640" cy="548640"/>
          </a:xfrm>
          <a:prstGeom prst="rect">
            <a:avLst/>
          </a:prstGeom>
          <a:noFill/>
          <a:ln/>
        </p:spPr>
        <p:txBody>
          <a:bodyPr wrap="square" lIns="0" tIns="0" rIns="0" bIns="0" rtlCol="0" anchor="t"/>
          <a:lstStyle/>
          <a:p>
            <a:pPr marL="0" indent="0">
              <a:buNone/>
            </a:pPr>
            <a:r>
              <a:rPr lang="en-US" sz="1050" i="1" dirty="0">
                <a:solidFill>
                  <a:schemeClr val="accent5"/>
                </a:solidFill>
              </a:rPr>
              <a:t>Arrows and W / S stay with the camera, so the runway can be watched while landing.</a:t>
            </a:r>
            <a:endParaRPr lang="en-US" sz="1050" dirty="0"/>
          </a:p>
        </p:txBody>
      </p:sp>
      <p:pic>
        <p:nvPicPr>
          <p:cNvPr id="20" name="Manual flight" descr="Manual flight"/>
          <p:cNvPicPr>
            <a:picLocks noChangeAspect="1"/>
          </p:cNvPicPr>
          <p:nvPr/>
        </p:nvPicPr>
        <p:blipFill>
          <a:blip r:embed="rId3"/>
          <a:stretch>
            <a:fillRect/>
          </a:stretch>
        </p:blipFill>
        <p:spPr>
          <a:xfrm>
            <a:off x="457200" y="2926080"/>
            <a:ext cx="5120640" cy="950976"/>
          </a:xfrm>
          <a:prstGeom prst="rect">
            <a:avLst/>
          </a:prstGeom>
        </p:spPr>
      </p:pic>
      <p:sp>
        <p:nvSpPr>
          <p:cNvPr id="21" name="Caption"/>
          <p:cNvSpPr txBox="1"/>
          <p:nvPr/>
        </p:nvSpPr>
        <p:spPr>
          <a:xfrm>
            <a:off x="457200" y="3931920"/>
            <a:ext cx="5120640" cy="237744"/>
          </a:xfrm>
          <a:prstGeom prst="rect">
            <a:avLst/>
          </a:prstGeom>
          <a:noFill/>
          <a:ln/>
        </p:spPr>
        <p:txBody>
          <a:bodyPr wrap="square" lIns="0" tIns="0" rIns="0" bIns="0" rtlCol="0" anchor="ctr"/>
          <a:lstStyle/>
          <a:p>
            <a:pPr marL="0" indent="0">
              <a:buNone/>
            </a:pPr>
            <a:r>
              <a:rPr lang="en-US" sz="950" i="1" dirty="0">
                <a:solidFill>
                  <a:schemeClr val="accent5"/>
                </a:solidFill>
              </a:rPr>
              <a:t>Lined up · rotate and climb · bank with contrails</a:t>
            </a:r>
            <a:endParaRPr lang="en-US" sz="950" dirty="0"/>
          </a:p>
        </p:txBody>
      </p:sp>
      <p:sp>
        <p:nvSpPr>
          <p:cNvPr id="25" name="Slide Number Placeholder 0"/>
          <p:cNvSpPr>
            <a:spLocks noGrp="1"/>
          </p:cNvSpPr>
          <p:nvPr>
            <p:ph type="sldNum" sz="quarter" idx="4294967295"/>
          </p:nvPr>
        </p:nvSpPr>
        <p:spPr>
          <a:xfrm>
            <a:off x="8229600" y="4754880"/>
            <a:ext cx="457200" cy="237744"/>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7F7F7F"/>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8229600" cy="237744"/>
          </a:xfrm>
          <a:prstGeom prst="rect">
            <a:avLst/>
          </a:prstGeom>
          <a:noFill/>
          <a:ln/>
        </p:spPr>
        <p:txBody>
          <a:bodyPr wrap="square" lIns="0" tIns="0" rIns="0" bIns="0" rtlCol="0" anchor="ctr"/>
          <a:lstStyle/>
          <a:p>
            <a:pPr marL="0" indent="0" algn="l">
              <a:buNone/>
            </a:pPr>
            <a:r>
              <a:rPr lang="en-US" sz="1000" b="1" kern="0" spc="100" dirty="0">
                <a:solidFill>
                  <a:schemeClr val="accent1"/>
                </a:solidFill>
              </a:rPr>
              <a:t>LIVE DEMONSTRATION</a:t>
            </a:r>
            <a:endParaRPr lang="en-US" sz="1000" dirty="0"/>
          </a:p>
        </p:txBody>
      </p:sp>
      <p:sp>
        <p:nvSpPr>
          <p:cNvPr id="3" name="Text 1"/>
          <p:cNvSpPr>
            <a:spLocks noGrp="1"/>
          </p:cNvSpPr>
          <p:nvPr>
            <p:ph type="title" idx="102" hasCustomPrompt="1"/>
          </p:nvPr>
        </p:nvSpPr>
        <p:spPr>
          <a:xfrm>
            <a:off x="457200" y="548640"/>
            <a:ext cx="8229600" cy="475488"/>
          </a:xfrm>
          <a:prstGeom prst="rect">
            <a:avLst/>
          </a:prstGeom>
          <a:noFill/>
          <a:ln/>
        </p:spPr>
        <p:txBody>
          <a:bodyPr wrap="square" lIns="0" tIns="0" rIns="0" bIns="0" rtlCol="0" anchor="ctr"/>
          <a:lstStyle/>
          <a:p>
            <a:pPr marL="0" indent="0" algn="l">
              <a:buNone/>
            </a:pPr>
            <a:r>
              <a:rPr lang="en-US" sz="2400" b="1" dirty="0">
                <a:solidFill>
                  <a:schemeClr val="tx1"/>
                </a:solidFill>
              </a:rPr>
              <a:t>The simulation running</a:t>
            </a:r>
            <a:endParaRPr lang="en-US" sz="2400" dirty="0"/>
          </a:p>
        </p:txBody>
      </p:sp>
      <p:pic>
        <p:nvPicPr>
          <p:cNvPr id="4" name="Simulation recording">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910414" y="1152144"/>
            <a:ext cx="7424694" cy="3374136"/>
          </a:xfrm>
          <a:prstGeom prst="rect">
            <a:avLst/>
          </a:prstGeom>
        </p:spPr>
      </p:pic>
      <p:sp>
        <p:nvSpPr>
          <p:cNvPr id="5" name="Caption"/>
          <p:cNvSpPr txBox="1"/>
          <p:nvPr/>
        </p:nvSpPr>
        <p:spPr>
          <a:xfrm>
            <a:off x="1600200" y="4572000"/>
            <a:ext cx="5943600" cy="237744"/>
          </a:xfrm>
          <a:prstGeom prst="rect">
            <a:avLst/>
          </a:prstGeom>
          <a:noFill/>
          <a:ln/>
        </p:spPr>
        <p:txBody>
          <a:bodyPr wrap="square" lIns="0" tIns="0" rIns="0" bIns="0" rtlCol="0" anchor="ctr"/>
          <a:lstStyle/>
          <a:p>
            <a:pPr marL="0" indent="0">
              <a:buNone/>
            </a:pPr>
            <a:r>
              <a:rPr lang="en-US" sz="950" i="1" dirty="0">
                <a:solidFill>
                  <a:schemeClr val="accent5"/>
                </a:solidFill>
              </a:rPr>
              <a:t>Overview · shading models · moving sun · rocket launch and separations · cockpit · manual flight   (1 min 46 s)</a:t>
            </a:r>
            <a:endParaRPr lang="en-US" sz="950" dirty="0"/>
          </a:p>
        </p:txBody>
      </p:sp>
      <p:sp>
        <p:nvSpPr>
          <p:cNvPr id="25" name="Slide Number Placeholder 0"/>
          <p:cNvSpPr>
            <a:spLocks noGrp="1"/>
          </p:cNvSpPr>
          <p:nvPr>
            <p:ph type="sldNum" sz="quarter" idx="4294967295"/>
          </p:nvPr>
        </p:nvSpPr>
        <p:spPr>
          <a:xfrm>
            <a:off x="8229600" y="4754880"/>
            <a:ext cx="457200" cy="237744"/>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7F7F7F"/>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4663440" cy="1188720"/>
          </a:xfrm>
          <a:prstGeom prst="rect">
            <a:avLst/>
          </a:prstGeom>
          <a:noFill/>
          <a:ln/>
        </p:spPr>
        <p:txBody>
          <a:bodyPr wrap="square" lIns="0" tIns="0" rIns="0" bIns="0" rtlCol="0" anchor="t"/>
          <a:lstStyle/>
          <a:p>
            <a:pPr marL="0" indent="0" algn="l">
              <a:buNone/>
            </a:pPr>
            <a:r>
              <a:rPr lang="en-US" sz="3000" b="1" dirty="0">
                <a:solidFill>
                  <a:schemeClr val="bg1"/>
                </a:solidFill>
              </a:rPr>
              <a:t>Thank you</a:t>
            </a:r>
            <a:endParaRPr lang="en-US" sz="3000" dirty="0"/>
          </a:p>
        </p:txBody>
      </p:sp>
      <p:sp>
        <p:nvSpPr>
          <p:cNvPr id="3" name="Text 0"/>
          <p:cNvSpPr>
            <a:spLocks noGrp="1"/>
          </p:cNvSpPr>
          <p:nvPr>
            <p:ph type="body" idx="101" hasCustomPrompt="1"/>
          </p:nvPr>
        </p:nvSpPr>
        <p:spPr>
          <a:xfrm>
            <a:off x="548640" y="2606040"/>
            <a:ext cx="4663440" cy="365760"/>
          </a:xfrm>
          <a:prstGeom prst="rect">
            <a:avLst/>
          </a:prstGeom>
          <a:noFill/>
          <a:ln/>
        </p:spPr>
        <p:txBody>
          <a:bodyPr wrap="square" lIns="0" tIns="0" rIns="0" bIns="0" rtlCol="0" anchor="t"/>
          <a:lstStyle/>
          <a:p>
            <a:pPr marL="0" indent="0" algn="l">
              <a:buNone/>
            </a:pPr>
            <a:r>
              <a:rPr lang="en-US" sz="1500" dirty="0">
                <a:solidFill>
                  <a:schemeClr val="accent2"/>
                </a:solidFill>
              </a:rPr>
              <a:t>Any questions?</a:t>
            </a:r>
            <a:endParaRPr lang="en-US" sz="1500" dirty="0"/>
          </a:p>
        </p:txBody>
      </p:sp>
      <p:sp>
        <p:nvSpPr>
          <p:cNvPr id="4" name="Text 2"/>
          <p:cNvSpPr txBox="1"/>
          <p:nvPr/>
        </p:nvSpPr>
        <p:spPr>
          <a:xfrm>
            <a:off x="548640" y="3154680"/>
            <a:ext cx="4663440" cy="731520"/>
          </a:xfrm>
          <a:prstGeom prst="rect">
            <a:avLst/>
          </a:prstGeom>
          <a:noFill/>
          <a:ln/>
        </p:spPr>
        <p:txBody>
          <a:bodyPr wrap="square" lIns="0" tIns="0" rIns="0" bIns="0" rtlCol="0" anchor="t"/>
          <a:lstStyle/>
          <a:p>
            <a:pPr marL="0" indent="0">
              <a:spcAft>
                <a:spcPts val="400"/>
              </a:spcAft>
              <a:buNone/>
            </a:pPr>
            <a:r>
              <a:rPr lang="en-US" sz="1400" b="1" dirty="0">
                <a:solidFill>
                  <a:schemeClr val="bg1"/>
                </a:solidFill>
              </a:rPr>
              <a:t>Md. Mosaddek Ali</a:t>
            </a:r>
            <a:endParaRPr lang="en-US" sz="1400" dirty="0"/>
          </a:p>
          <a:p>
            <a:pPr marL="0" indent="0">
              <a:spcAft>
                <a:spcPts val="400"/>
              </a:spcAft>
              <a:buNone/>
            </a:pPr>
            <a:r>
              <a:rPr lang="en-US" sz="1400" dirty="0">
                <a:solidFill>
                  <a:schemeClr val="accent2"/>
                </a:solidFill>
              </a:rPr>
              <a:t>Roll: 2107027  ·  CSE 4102 — Computer Graphics</a:t>
            </a:r>
            <a:endParaRPr lang="en-US" sz="1400" dirty="0"/>
          </a:p>
        </p:txBody>
      </p:sp>
      <p:pic>
        <p:nvPicPr>
          <p:cNvPr id="5" name="Cockpit view" descr="Cockpit view"/>
          <p:cNvPicPr>
            <a:picLocks noChangeAspect="1"/>
          </p:cNvPicPr>
          <p:nvPr/>
        </p:nvPicPr>
        <p:blipFill>
          <a:blip r:embed="rId3"/>
          <a:stretch>
            <a:fillRect/>
          </a:stretch>
        </p:blipFill>
        <p:spPr>
          <a:xfrm>
            <a:off x="5486400" y="1371600"/>
            <a:ext cx="3200400" cy="1801368"/>
          </a:xfrm>
          <a:prstGeom prst="rect">
            <a:avLst/>
          </a:prstGeom>
        </p:spPr>
      </p:pic>
    </p:spTree>
  </p:cSld>
  <p:clrMapOvr>
    <a:masterClrMapping/>
  </p:clrMapOvr>
</p:sld>
</file>

<file path=ppt/theme/theme1.xml><?xml version="1.0" encoding="utf-8"?>
<a:theme xmlns:a="http://schemas.openxmlformats.org/drawingml/2006/main" name="Academic Blue">
  <a:themeElements>
    <a:clrScheme name="Academic Blue">
      <a:dk1>
        <a:srgbClr val="1F3864"/>
      </a:dk1>
      <a:lt1>
        <a:srgbClr val="FFFFFF"/>
      </a:lt1>
      <a:dk2>
        <a:srgbClr val="404040"/>
      </a:dk2>
      <a:lt2>
        <a:srgbClr val="F2F2F2"/>
      </a:lt2>
      <a:accent1>
        <a:srgbClr val="2F5597"/>
      </a:accent1>
      <a:accent2>
        <a:srgbClr val="9DC3E6"/>
      </a:accent2>
      <a:accent3>
        <a:srgbClr val="5B9BD5"/>
      </a:accent3>
      <a:accent4>
        <a:srgbClr val="A5A5A5"/>
      </a:accent4>
      <a:accent5>
        <a:srgbClr val="7F7F7F"/>
      </a:accent5>
      <a:accent6>
        <a:srgbClr val="D9D9D9"/>
      </a:accent6>
      <a:hlink>
        <a:srgbClr val="0563C1"/>
      </a:hlink>
      <a:folHlink>
        <a:srgbClr val="954F72"/>
      </a:folHlink>
    </a:clrScheme>
    <a:fontScheme name="Academic Blu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1366</Words>
  <Application>Microsoft Office PowerPoint</Application>
  <PresentationFormat>On-screen Show (16:9)</PresentationFormat>
  <Paragraphs>142</Paragraphs>
  <Slides>10</Slides>
  <Notes>10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Academic Blue</vt:lpstr>
      <vt:lpstr>Airport ATC Simulation in OpenGL</vt:lpstr>
      <vt:lpstr>Outline</vt:lpstr>
      <vt:lpstr>Every vertex comes from an equation</vt:lpstr>
      <vt:lpstr>Model, view and projection — written by hand</vt:lpstr>
      <vt:lpstr>Phong reflection model, one directional sun</vt:lpstr>
      <vt:lpstr>Same equation — evaluated in two different places</vt:lpstr>
      <vt:lpstr>Material = colour + gloss</vt:lpstr>
      <vt:lpstr>State machines, and the airliner flown by hand</vt:lpstr>
      <vt:lpstr>The simulation running</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Airport ATC Simulation in OpenGL</dc:title>
  <dc:subject>CSE 4102 Computer Graphics project</dc:subject>
  <dc:creator>Md. Mosaddek Ali</dc:creator>
  <cp:lastModifiedBy>mosaddek shishir</cp:lastModifiedBy>
  <cp:revision>2</cp:revision>
  <dcterms:created xsi:type="dcterms:W3CDTF">2026-10-04T16:18:08Z</dcterms:created>
  <dcterms:modified xsi:type="dcterms:W3CDTF">2026-10-04T16:35:45Z</dcterms:modified>
</cp:coreProperties>
</file>